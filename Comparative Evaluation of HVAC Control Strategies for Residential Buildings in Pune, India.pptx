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 Mono SemiBold"/>
      <p:regular r:id="rId19"/>
      <p:bold r:id="rId20"/>
      <p:italic r:id="rId21"/>
      <p:boldItalic r:id="rId22"/>
    </p:embeddedFont>
    <p:embeddedFont>
      <p:font typeface="Roboto Mono Medium"/>
      <p:regular r:id="rId23"/>
      <p:bold r:id="rId24"/>
      <p:italic r:id="rId25"/>
      <p:boldItalic r:id="rId26"/>
    </p:embeddedFont>
    <p:embeddedFont>
      <p:font typeface="Inter SemiBold"/>
      <p:regular r:id="rId27"/>
      <p:bold r:id="rId28"/>
      <p:italic r:id="rId29"/>
      <p:boldItalic r:id="rId30"/>
    </p:embeddedFont>
    <p:embeddedFont>
      <p:font typeface="Inter"/>
      <p:bold r:id="rId31"/>
      <p:boldItalic r:id="rId32"/>
    </p:embeddedFont>
    <p:embeddedFont>
      <p:font typeface="Roboto Mono"/>
      <p:bold r:id="rId33"/>
      <p:boldItalic r:id="rId34"/>
    </p:embeddedFont>
    <p:embeddedFont>
      <p:font typeface="Inter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SemiBold-bold.fntdata"/><Relationship Id="rId22" Type="http://schemas.openxmlformats.org/officeDocument/2006/relationships/font" Target="fonts/RobotoMonoSemiBold-boldItalic.fntdata"/><Relationship Id="rId21" Type="http://schemas.openxmlformats.org/officeDocument/2006/relationships/font" Target="fonts/RobotoMonoSemiBold-italic.fntdata"/><Relationship Id="rId24" Type="http://schemas.openxmlformats.org/officeDocument/2006/relationships/font" Target="fonts/RobotoMonoMedium-bold.fntdata"/><Relationship Id="rId23" Type="http://schemas.openxmlformats.org/officeDocument/2006/relationships/font" Target="fonts/RobotoMono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Medium-boldItalic.fntdata"/><Relationship Id="rId25" Type="http://schemas.openxmlformats.org/officeDocument/2006/relationships/font" Target="fonts/RobotoMonoMedium-italic.fntdata"/><Relationship Id="rId28" Type="http://schemas.openxmlformats.org/officeDocument/2006/relationships/font" Target="fonts/InterSemiBold-bold.fntdata"/><Relationship Id="rId27" Type="http://schemas.openxmlformats.org/officeDocument/2006/relationships/font" Target="fonts/Inter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.fntdata"/><Relationship Id="rId30" Type="http://schemas.openxmlformats.org/officeDocument/2006/relationships/font" Target="fonts/InterSemiBold-boldItalic.fntdata"/><Relationship Id="rId11" Type="http://schemas.openxmlformats.org/officeDocument/2006/relationships/slide" Target="slides/slide6.xml"/><Relationship Id="rId33" Type="http://schemas.openxmlformats.org/officeDocument/2006/relationships/font" Target="fonts/RobotoMono-bold.fntdata"/><Relationship Id="rId10" Type="http://schemas.openxmlformats.org/officeDocument/2006/relationships/slide" Target="slides/slide5.xml"/><Relationship Id="rId32" Type="http://schemas.openxmlformats.org/officeDocument/2006/relationships/font" Target="fonts/Inter-boldItalic.fntdata"/><Relationship Id="rId13" Type="http://schemas.openxmlformats.org/officeDocument/2006/relationships/slide" Target="slides/slide8.xml"/><Relationship Id="rId35" Type="http://schemas.openxmlformats.org/officeDocument/2006/relationships/font" Target="fonts/InterMedium-regular.fntdata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37" Type="http://schemas.openxmlformats.org/officeDocument/2006/relationships/font" Target="fonts/InterMedium-italic.fntdata"/><Relationship Id="rId14" Type="http://schemas.openxmlformats.org/officeDocument/2006/relationships/slide" Target="slides/slide9.xml"/><Relationship Id="rId36" Type="http://schemas.openxmlformats.org/officeDocument/2006/relationships/font" Target="fonts/InterMedium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InterMedium-boldItalic.fntdata"/><Relationship Id="rId19" Type="http://schemas.openxmlformats.org/officeDocument/2006/relationships/font" Target="fonts/RobotoMonoSemiBold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564e7e0a313bced4_2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564e7e0a313bced4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564e7e0a313bced4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h564e7e0a313bced4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564e7e0a313bced4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564e7e0a313bced4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564e7e0a313bced4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h564e7e0a313bced4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564e7e0a313bced4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h564e7e0a313bced4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h564e7e0a313bced4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h564e7e0a313bced4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h564e7e0a313bced4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h564e7e0a313bced4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h564e7e0a313bced4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h564e7e0a313bced4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h564e7e0a313bced4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h564e7e0a313bced4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h564e7e0a313bced4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h564e7e0a313bced4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h564e7e0a313bced4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h564e7e0a313bced4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h564e7e0a313bced4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h564e7e0a313bced4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h564e7e0a313bced4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h564e7e0a313bced4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564e7e0a313bced4_14_0)">
  <p:cSld name="Generated (h564e7e0a313bced4_14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381000" y="381000"/>
            <a:ext cx="8382000" cy="4714875"/>
            <a:chOff x="381000" y="381000"/>
            <a:chExt cx="8382000" cy="4714875"/>
          </a:xfrm>
        </p:grpSpPr>
        <p:sp>
          <p:nvSpPr>
            <p:cNvPr id="56" name="Google Shape;56;p14"/>
            <p:cNvSpPr/>
            <p:nvPr/>
          </p:nvSpPr>
          <p:spPr>
            <a:xfrm>
              <a:off x="381000" y="381000"/>
              <a:ext cx="304800" cy="381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" name="Google Shape;57;p14"/>
            <p:cNvGrpSpPr/>
            <p:nvPr/>
          </p:nvGrpSpPr>
          <p:grpSpPr>
            <a:xfrm>
              <a:off x="381000" y="4857750"/>
              <a:ext cx="8382000" cy="238125"/>
              <a:chOff x="381000" y="4857750"/>
              <a:chExt cx="8382000" cy="238125"/>
            </a:xfrm>
          </p:grpSpPr>
          <p:cxnSp>
            <p:nvCxnSpPr>
              <p:cNvPr id="58" name="Google Shape;58;p14"/>
              <p:cNvCxnSpPr/>
              <p:nvPr/>
            </p:nvCxnSpPr>
            <p:spPr>
              <a:xfrm>
                <a:off x="381000" y="4857750"/>
                <a:ext cx="8382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9" name="Google Shape;59;p14"/>
              <p:cNvSpPr txBox="1"/>
              <p:nvPr/>
            </p:nvSpPr>
            <p:spPr>
              <a:xfrm>
                <a:off x="381000" y="4905375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RESEARCH STUDY | RESIDENTIAL HVAC CONTROL</a:t>
                </a:r>
                <a:endParaRPr b="0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60" name="Google Shape;60;p14"/>
              <p:cNvSpPr txBox="1"/>
              <p:nvPr/>
            </p:nvSpPr>
            <p:spPr>
              <a:xfrm>
                <a:off x="4953000" y="4905375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PUNE, MAHARASHTRA</a:t>
                </a:r>
                <a:endParaRPr b="0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61" name="Google Shape;61;p14"/>
          <p:cNvGrpSpPr/>
          <p:nvPr/>
        </p:nvGrpSpPr>
        <p:grpSpPr>
          <a:xfrm>
            <a:off x="381000" y="571500"/>
            <a:ext cx="8382000" cy="1238325"/>
            <a:chOff x="0" y="0"/>
            <a:chExt cx="8382000" cy="1238325"/>
          </a:xfrm>
        </p:grpSpPr>
        <p:sp>
          <p:nvSpPr>
            <p:cNvPr id="62" name="Google Shape;62;p14"/>
            <p:cNvSpPr txBox="1"/>
            <p:nvPr/>
          </p:nvSpPr>
          <p:spPr>
            <a:xfrm>
              <a:off x="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5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Comparative Evaluation of Residential HVAC Control Strategies in Pune</a:t>
              </a:r>
              <a:endParaRPr b="1" sz="2405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0" y="809625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A556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 full-year (8760-hour) Simulink-based simulation study evaluating trade-offs among thermal comfort, energy efficiency, and indoor air quality for a representative 3BHK residence.</a:t>
              </a:r>
              <a:endParaRPr b="0" sz="1300">
                <a:solidFill>
                  <a:srgbClr val="4A556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cxnSp>
        <p:nvCxnSpPr>
          <p:cNvPr id="64" name="Google Shape;64;p14"/>
          <p:cNvCxnSpPr/>
          <p:nvPr/>
        </p:nvCxnSpPr>
        <p:spPr>
          <a:xfrm>
            <a:off x="381000" y="19050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5" name="Google Shape;65;p14"/>
          <p:cNvGrpSpPr/>
          <p:nvPr/>
        </p:nvGrpSpPr>
        <p:grpSpPr>
          <a:xfrm>
            <a:off x="381000" y="2095500"/>
            <a:ext cx="2619300" cy="1143000"/>
            <a:chOff x="0" y="0"/>
            <a:chExt cx="2619300" cy="1143000"/>
          </a:xfrm>
        </p:grpSpPr>
        <p:sp>
          <p:nvSpPr>
            <p:cNvPr id="66" name="Google Shape;66;p14"/>
            <p:cNvSpPr/>
            <p:nvPr/>
          </p:nvSpPr>
          <p:spPr>
            <a:xfrm>
              <a:off x="0" y="0"/>
              <a:ext cx="2619300" cy="1143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0" y="0"/>
              <a:ext cx="2619300" cy="381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190500" y="142875"/>
              <a:ext cx="2238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SIMULATION SCOPE</a:t>
              </a:r>
              <a:endParaRPr b="0" sz="900">
                <a:solidFill>
                  <a:srgbClr val="71809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0052CC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8,760 HR</a:t>
              </a:r>
              <a:endParaRPr b="0" sz="2000">
                <a:solidFill>
                  <a:srgbClr val="0052CC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Full-year dynamic model in Simulink for a 3BHK residence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9" name="Google Shape;69;p14"/>
          <p:cNvGrpSpPr/>
          <p:nvPr/>
        </p:nvGrpSpPr>
        <p:grpSpPr>
          <a:xfrm>
            <a:off x="3257550" y="2095500"/>
            <a:ext cx="2619300" cy="1143000"/>
            <a:chOff x="0" y="0"/>
            <a:chExt cx="2619300" cy="1143000"/>
          </a:xfrm>
        </p:grpSpPr>
        <p:sp>
          <p:nvSpPr>
            <p:cNvPr id="70" name="Google Shape;70;p14"/>
            <p:cNvSpPr/>
            <p:nvPr/>
          </p:nvSpPr>
          <p:spPr>
            <a:xfrm>
              <a:off x="0" y="0"/>
              <a:ext cx="2619300" cy="1143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0" y="0"/>
              <a:ext cx="2619300" cy="381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190500" y="142875"/>
              <a:ext cx="2238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EQUIPMENT ARCHITECTURE</a:t>
              </a:r>
              <a:endParaRPr b="0" sz="900">
                <a:solidFill>
                  <a:srgbClr val="71809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VRF + IEC + DOAS</a:t>
              </a:r>
              <a:endParaRPr b="0" sz="1100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Integrated variable refrigerant flow, evaporative cooling &amp; outdoor air system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3" name="Google Shape;73;p14"/>
          <p:cNvGrpSpPr/>
          <p:nvPr/>
        </p:nvGrpSpPr>
        <p:grpSpPr>
          <a:xfrm>
            <a:off x="6143625" y="2095500"/>
            <a:ext cx="2619300" cy="1143000"/>
            <a:chOff x="0" y="0"/>
            <a:chExt cx="2619300" cy="1143000"/>
          </a:xfrm>
        </p:grpSpPr>
        <p:sp>
          <p:nvSpPr>
            <p:cNvPr id="74" name="Google Shape;74;p14"/>
            <p:cNvSpPr/>
            <p:nvPr/>
          </p:nvSpPr>
          <p:spPr>
            <a:xfrm>
              <a:off x="0" y="0"/>
              <a:ext cx="2619300" cy="1143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0" y="0"/>
              <a:ext cx="2619300" cy="381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190500" y="142875"/>
              <a:ext cx="2238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EVALUATION VECTORS</a:t>
              </a:r>
              <a:endParaRPr b="0" sz="900">
                <a:solidFill>
                  <a:srgbClr val="71809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COMFORT / ENERGY / IAQ</a:t>
              </a:r>
              <a:endParaRPr b="0" sz="1100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Quantifying multi-objective trade-offs for indoor environments</a:t>
              </a:r>
              <a:endParaRPr b="0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7" name="Google Shape;77;p14"/>
          <p:cNvGrpSpPr/>
          <p:nvPr/>
        </p:nvGrpSpPr>
        <p:grpSpPr>
          <a:xfrm>
            <a:off x="381000" y="3429000"/>
            <a:ext cx="8382000" cy="1190775"/>
            <a:chOff x="0" y="0"/>
            <a:chExt cx="8382000" cy="1190775"/>
          </a:xfrm>
        </p:grpSpPr>
        <p:sp>
          <p:nvSpPr>
            <p:cNvPr id="78" name="Google Shape;78;p14"/>
            <p:cNvSpPr txBox="1"/>
            <p:nvPr/>
          </p:nvSpPr>
          <p:spPr>
            <a:xfrm>
              <a:off x="0" y="0"/>
              <a:ext cx="838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5 CONTROL STRATEGIES EVALUATED</a:t>
              </a:r>
              <a:endParaRPr b="0" sz="1400">
                <a:solidFill>
                  <a:srgbClr val="0052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79" name="Google Shape;79;p14"/>
            <p:cNvGrpSpPr/>
            <p:nvPr/>
          </p:nvGrpSpPr>
          <p:grpSpPr>
            <a:xfrm>
              <a:off x="0" y="333375"/>
              <a:ext cx="1524000" cy="857400"/>
              <a:chOff x="0" y="0"/>
              <a:chExt cx="1524000" cy="857400"/>
            </a:xfrm>
          </p:grpSpPr>
          <p:sp>
            <p:nvSpPr>
              <p:cNvPr id="80" name="Google Shape;80;p14"/>
              <p:cNvSpPr/>
              <p:nvPr/>
            </p:nvSpPr>
            <p:spPr>
              <a:xfrm>
                <a:off x="0" y="0"/>
                <a:ext cx="1524000" cy="857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4"/>
              <p:cNvSpPr txBox="1"/>
              <p:nvPr/>
            </p:nvSpPr>
            <p:spPr>
              <a:xfrm>
                <a:off x="114300" y="114300"/>
                <a:ext cx="1295400" cy="62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01 / BASELINE</a:t>
                </a:r>
                <a:endParaRPr b="0" sz="833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18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Rule-Based</a:t>
                </a:r>
                <a:endParaRPr b="0" sz="1018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718096"/>
                    </a:solidFill>
                    <a:latin typeface="Inter"/>
                    <a:ea typeface="Inter"/>
                    <a:cs typeface="Inter"/>
                    <a:sym typeface="Inter"/>
                  </a:rPr>
                  <a:t>Heuristic &amp; threshold logic</a:t>
                </a:r>
                <a:endParaRPr b="0" sz="833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2" name="Google Shape;82;p14"/>
            <p:cNvGrpSpPr/>
            <p:nvPr/>
          </p:nvGrpSpPr>
          <p:grpSpPr>
            <a:xfrm>
              <a:off x="1714500" y="333375"/>
              <a:ext cx="1524000" cy="857400"/>
              <a:chOff x="0" y="0"/>
              <a:chExt cx="1524000" cy="857400"/>
            </a:xfrm>
          </p:grpSpPr>
          <p:sp>
            <p:nvSpPr>
              <p:cNvPr id="83" name="Google Shape;83;p14"/>
              <p:cNvSpPr/>
              <p:nvPr/>
            </p:nvSpPr>
            <p:spPr>
              <a:xfrm>
                <a:off x="0" y="0"/>
                <a:ext cx="1524000" cy="857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4"/>
              <p:cNvSpPr txBox="1"/>
              <p:nvPr/>
            </p:nvSpPr>
            <p:spPr>
              <a:xfrm>
                <a:off x="114300" y="114300"/>
                <a:ext cx="1295400" cy="62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630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02 / CLASSICAL</a:t>
                </a:r>
                <a:endParaRPr b="0" sz="63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770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PID</a:t>
                </a:r>
                <a:endParaRPr b="0" sz="77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630">
                    <a:solidFill>
                      <a:srgbClr val="718096"/>
                    </a:solidFill>
                    <a:latin typeface="Inter"/>
                    <a:ea typeface="Inter"/>
                    <a:cs typeface="Inter"/>
                    <a:sym typeface="Inter"/>
                  </a:rPr>
                  <a:t>Proportional-integral-derivative</a:t>
                </a:r>
                <a:endParaRPr b="0" sz="630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5" name="Google Shape;85;p14"/>
            <p:cNvGrpSpPr/>
            <p:nvPr/>
          </p:nvGrpSpPr>
          <p:grpSpPr>
            <a:xfrm>
              <a:off x="3429000" y="333375"/>
              <a:ext cx="1524000" cy="857400"/>
              <a:chOff x="0" y="0"/>
              <a:chExt cx="1524000" cy="857400"/>
            </a:xfrm>
          </p:grpSpPr>
          <p:sp>
            <p:nvSpPr>
              <p:cNvPr id="86" name="Google Shape;86;p14"/>
              <p:cNvSpPr/>
              <p:nvPr/>
            </p:nvSpPr>
            <p:spPr>
              <a:xfrm>
                <a:off x="0" y="0"/>
                <a:ext cx="1524000" cy="857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4"/>
              <p:cNvSpPr txBox="1"/>
              <p:nvPr/>
            </p:nvSpPr>
            <p:spPr>
              <a:xfrm>
                <a:off x="114300" y="114300"/>
                <a:ext cx="1295400" cy="62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03 / ADVANCED</a:t>
                </a:r>
                <a:endParaRPr b="0" sz="833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18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MPC</a:t>
                </a:r>
                <a:endParaRPr b="0" sz="1018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718096"/>
                    </a:solidFill>
                    <a:latin typeface="Inter"/>
                    <a:ea typeface="Inter"/>
                    <a:cs typeface="Inter"/>
                    <a:sym typeface="Inter"/>
                  </a:rPr>
                  <a:t>Model predictive control</a:t>
                </a:r>
                <a:endParaRPr b="0" sz="833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8" name="Google Shape;88;p14"/>
            <p:cNvGrpSpPr/>
            <p:nvPr/>
          </p:nvGrpSpPr>
          <p:grpSpPr>
            <a:xfrm>
              <a:off x="5143500" y="333375"/>
              <a:ext cx="1524000" cy="857400"/>
              <a:chOff x="0" y="0"/>
              <a:chExt cx="1524000" cy="857400"/>
            </a:xfrm>
          </p:grpSpPr>
          <p:sp>
            <p:nvSpPr>
              <p:cNvPr id="89" name="Google Shape;89;p14"/>
              <p:cNvSpPr/>
              <p:nvPr/>
            </p:nvSpPr>
            <p:spPr>
              <a:xfrm>
                <a:off x="0" y="0"/>
                <a:ext cx="1524000" cy="857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4"/>
              <p:cNvSpPr txBox="1"/>
              <p:nvPr/>
            </p:nvSpPr>
            <p:spPr>
              <a:xfrm>
                <a:off x="114300" y="114300"/>
                <a:ext cx="1295400" cy="62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04 / AI / LEARNING</a:t>
                </a:r>
                <a:endParaRPr b="0" sz="833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18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RL-DQN</a:t>
                </a:r>
                <a:endParaRPr b="0" sz="1018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718096"/>
                    </a:solidFill>
                    <a:latin typeface="Inter"/>
                    <a:ea typeface="Inter"/>
                    <a:cs typeface="Inter"/>
                    <a:sym typeface="Inter"/>
                  </a:rPr>
                  <a:t>Deep Q-network reinforcement</a:t>
                </a:r>
                <a:endParaRPr b="0" sz="833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91" name="Google Shape;91;p14"/>
            <p:cNvGrpSpPr/>
            <p:nvPr/>
          </p:nvGrpSpPr>
          <p:grpSpPr>
            <a:xfrm>
              <a:off x="6858000" y="333375"/>
              <a:ext cx="1524000" cy="857400"/>
              <a:chOff x="0" y="0"/>
              <a:chExt cx="1524000" cy="857400"/>
            </a:xfrm>
          </p:grpSpPr>
          <p:sp>
            <p:nvSpPr>
              <p:cNvPr id="92" name="Google Shape;92;p14"/>
              <p:cNvSpPr/>
              <p:nvPr/>
            </p:nvSpPr>
            <p:spPr>
              <a:xfrm>
                <a:off x="0" y="0"/>
                <a:ext cx="1524000" cy="857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4"/>
              <p:cNvSpPr/>
              <p:nvPr/>
            </p:nvSpPr>
            <p:spPr>
              <a:xfrm>
                <a:off x="0" y="0"/>
                <a:ext cx="1524000" cy="19200"/>
              </a:xfrm>
              <a:prstGeom prst="rect">
                <a:avLst/>
              </a:prstGeom>
              <a:solidFill>
                <a:srgbClr val="0052C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4"/>
              <p:cNvSpPr txBox="1"/>
              <p:nvPr/>
            </p:nvSpPr>
            <p:spPr>
              <a:xfrm>
                <a:off x="114300" y="114300"/>
                <a:ext cx="1295400" cy="62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0052C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05 / NOVEL</a:t>
                </a:r>
                <a:endParaRPr b="0" sz="833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18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Hybrid</a:t>
                </a:r>
                <a:endParaRPr b="0" sz="1018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718096"/>
                    </a:solidFill>
                    <a:latin typeface="Inter"/>
                    <a:ea typeface="Inter"/>
                    <a:cs typeface="Inter"/>
                    <a:sym typeface="Inter"/>
                  </a:rPr>
                  <a:t>Combined control architecture</a:t>
                </a:r>
                <a:endParaRPr b="0" sz="833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/>
          <p:nvPr/>
        </p:nvSpPr>
        <p:spPr>
          <a:xfrm>
            <a:off x="381000" y="285750"/>
            <a:ext cx="304800" cy="381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381000" y="428625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Space-Cooling Demand &amp; Climate Challenges</a:t>
            </a:r>
            <a:endParaRPr b="1" sz="2200">
              <a:solidFill>
                <a:srgbClr val="1A20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1" name="Google Shape;101;p15"/>
          <p:cNvCxnSpPr/>
          <p:nvPr/>
        </p:nvCxnSpPr>
        <p:spPr>
          <a:xfrm>
            <a:off x="381000" y="85725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2" name="Google Shape;102;p15"/>
          <p:cNvGrpSpPr/>
          <p:nvPr/>
        </p:nvGrpSpPr>
        <p:grpSpPr>
          <a:xfrm>
            <a:off x="381000" y="1047750"/>
            <a:ext cx="2952900" cy="1714500"/>
            <a:chOff x="381000" y="1047750"/>
            <a:chExt cx="2952900" cy="1714500"/>
          </a:xfrm>
        </p:grpSpPr>
        <p:sp>
          <p:nvSpPr>
            <p:cNvPr id="103" name="Google Shape;103;p15"/>
            <p:cNvSpPr/>
            <p:nvPr/>
          </p:nvSpPr>
          <p:spPr>
            <a:xfrm>
              <a:off x="381000" y="1047750"/>
              <a:ext cx="2952900" cy="1714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381000" y="1047750"/>
              <a:ext cx="2952900" cy="381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 txBox="1"/>
            <p:nvPr/>
          </p:nvSpPr>
          <p:spPr>
            <a:xfrm>
              <a:off x="571500" y="1190625"/>
              <a:ext cx="2571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CONSUMPTION GROWTH (2019–2022)</a:t>
              </a:r>
              <a:endParaRPr b="0" sz="900">
                <a:solidFill>
                  <a:srgbClr val="71809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4200">
                  <a:solidFill>
                    <a:srgbClr val="0052C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+21%</a:t>
              </a:r>
              <a:endParaRPr b="1" sz="4200">
                <a:solidFill>
                  <a:srgbClr val="0052C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Increase in space-cooling electricity consumption across India over a 3-year period.</a:t>
              </a:r>
              <a:endParaRPr b="0" sz="11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6" name="Google Shape;106;p15"/>
          <p:cNvGrpSpPr/>
          <p:nvPr/>
        </p:nvGrpSpPr>
        <p:grpSpPr>
          <a:xfrm>
            <a:off x="381000" y="2952750"/>
            <a:ext cx="2952900" cy="1619100"/>
            <a:chOff x="381000" y="2952750"/>
            <a:chExt cx="2952900" cy="1619100"/>
          </a:xfrm>
        </p:grpSpPr>
        <p:sp>
          <p:nvSpPr>
            <p:cNvPr id="107" name="Google Shape;107;p15"/>
            <p:cNvSpPr/>
            <p:nvPr/>
          </p:nvSpPr>
          <p:spPr>
            <a:xfrm>
              <a:off x="381000" y="2952750"/>
              <a:ext cx="2952900" cy="16191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381000" y="2952750"/>
              <a:ext cx="2952900" cy="381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571500" y="3095625"/>
              <a:ext cx="25719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NATIONAL GRID SHARE</a:t>
              </a:r>
              <a:endParaRPr b="0" sz="900">
                <a:solidFill>
                  <a:srgbClr val="71809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059669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~10%</a:t>
              </a:r>
              <a:endParaRPr b="0" sz="3200">
                <a:solidFill>
                  <a:srgbClr val="059669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Proportion of India's total electricity demand driven by space-cooling loads.</a:t>
              </a:r>
              <a:endParaRPr b="0" sz="11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0" name="Google Shape;110;p15"/>
          <p:cNvGrpSpPr/>
          <p:nvPr/>
        </p:nvGrpSpPr>
        <p:grpSpPr>
          <a:xfrm>
            <a:off x="3619500" y="1047750"/>
            <a:ext cx="5143500" cy="2190900"/>
            <a:chOff x="3619500" y="1047750"/>
            <a:chExt cx="5143500" cy="2190900"/>
          </a:xfrm>
        </p:grpSpPr>
        <p:sp>
          <p:nvSpPr>
            <p:cNvPr id="111" name="Google Shape;111;p15"/>
            <p:cNvSpPr/>
            <p:nvPr/>
          </p:nvSpPr>
          <p:spPr>
            <a:xfrm>
              <a:off x="3619500" y="1047750"/>
              <a:ext cx="5143500" cy="2190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3619500" y="1047750"/>
              <a:ext cx="38100" cy="21909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3857625" y="1190625"/>
              <a:ext cx="4667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PUNE COMPOSITE CLIMATE DEMANDS</a:t>
              </a:r>
              <a:endParaRPr b="0" sz="1300">
                <a:solidFill>
                  <a:srgbClr val="0052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Sensible Cooling (Summer):</a:t>
              </a:r>
              <a:r>
                <a:rPr b="0" lang="en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High ambient temperatures exceeding 40°C require aggressive thermal load extraction.</a:t>
              </a:r>
              <a:endParaRPr b="0" sz="11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Latent-Load Control (Monsoon):</a:t>
              </a:r>
              <a:r>
                <a:rPr b="0" lang="en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Extreme relative humidity above 80% mandates dedicated moisture control without over-cooling.</a:t>
              </a:r>
              <a:endParaRPr b="0" sz="11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Fresh-Air Ventilation:</a:t>
              </a:r>
              <a:r>
                <a:rPr b="0" lang="en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Continuous fresh-air intake needed to maintain healthy indoor air quality across shifting seasons.</a:t>
              </a:r>
              <a:endParaRPr b="0" sz="11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4" name="Google Shape;114;p15"/>
          <p:cNvGrpSpPr/>
          <p:nvPr/>
        </p:nvGrpSpPr>
        <p:grpSpPr>
          <a:xfrm>
            <a:off x="3619500" y="3429000"/>
            <a:ext cx="5143500" cy="1143000"/>
            <a:chOff x="3619500" y="3429000"/>
            <a:chExt cx="5143500" cy="1143000"/>
          </a:xfrm>
        </p:grpSpPr>
        <p:sp>
          <p:nvSpPr>
            <p:cNvPr id="115" name="Google Shape;115;p15"/>
            <p:cNvSpPr/>
            <p:nvPr/>
          </p:nvSpPr>
          <p:spPr>
            <a:xfrm>
              <a:off x="3619500" y="3429000"/>
              <a:ext cx="5143500" cy="1143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3619500" y="3429000"/>
              <a:ext cx="38100" cy="1143000"/>
            </a:xfrm>
            <a:prstGeom prst="rect">
              <a:avLst/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3857625" y="3571875"/>
              <a:ext cx="4667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DC262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CURRENT CONTROL LOGIC LIMITATIONS</a:t>
              </a:r>
              <a:endParaRPr b="0" sz="1300">
                <a:solidFill>
                  <a:srgbClr val="DC262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Despite complex climate demands, most homes rely on simple thermostats or hand-tuned PID logic that continuously trade off occupant thermal comfort against energy efficiency.</a:t>
              </a:r>
              <a:endParaRPr b="0" sz="11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16"/>
          <p:cNvGrpSpPr/>
          <p:nvPr/>
        </p:nvGrpSpPr>
        <p:grpSpPr>
          <a:xfrm>
            <a:off x="381000" y="381000"/>
            <a:ext cx="2286000" cy="3762300"/>
            <a:chOff x="381000" y="381000"/>
            <a:chExt cx="2286000" cy="3762300"/>
          </a:xfrm>
        </p:grpSpPr>
        <p:sp>
          <p:nvSpPr>
            <p:cNvPr id="123" name="Google Shape;123;p16"/>
            <p:cNvSpPr/>
            <p:nvPr/>
          </p:nvSpPr>
          <p:spPr>
            <a:xfrm>
              <a:off x="381000" y="381000"/>
              <a:ext cx="304800" cy="381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381000" y="533400"/>
              <a:ext cx="2286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5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Building Model &amp; Thermal Properties</a:t>
              </a:r>
              <a:endParaRPr b="1" sz="185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4A556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3BHK Residence</a:t>
              </a:r>
              <a:endParaRPr b="0" sz="1203">
                <a:solidFill>
                  <a:srgbClr val="4A556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381000" y="1714500"/>
              <a:ext cx="2286000" cy="714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381000" y="1714500"/>
              <a:ext cx="38100" cy="7143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533400" y="1809750"/>
              <a:ext cx="2000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TOTAL FLOOR AREA</a:t>
              </a:r>
              <a:endParaRPr b="0" sz="850">
                <a:solidFill>
                  <a:srgbClr val="71809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A202C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95 m²</a:t>
              </a:r>
              <a:endParaRPr b="0" sz="1600">
                <a:solidFill>
                  <a:srgbClr val="1A202C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381000" y="2571750"/>
              <a:ext cx="2286000" cy="714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381000" y="2571750"/>
              <a:ext cx="38100" cy="7143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533400" y="2667000"/>
              <a:ext cx="2000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CONDITIONED VOLUME</a:t>
              </a:r>
              <a:endParaRPr b="0" sz="850">
                <a:solidFill>
                  <a:srgbClr val="71809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A202C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270.75 m³</a:t>
              </a:r>
              <a:endParaRPr b="0" sz="1600">
                <a:solidFill>
                  <a:srgbClr val="1A202C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381000" y="3429000"/>
              <a:ext cx="2286000" cy="714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381000" y="3429000"/>
              <a:ext cx="38100" cy="7143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533400" y="3524250"/>
              <a:ext cx="2000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CLIMATE LOCATION</a:t>
              </a:r>
              <a:endParaRPr b="0" sz="850">
                <a:solidFill>
                  <a:srgbClr val="71809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A202C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Pune TMY</a:t>
              </a:r>
              <a:endParaRPr b="0" sz="1400">
                <a:solidFill>
                  <a:srgbClr val="1A202C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</p:grpSp>
      <p:cxnSp>
        <p:nvCxnSpPr>
          <p:cNvPr id="134" name="Google Shape;134;p16"/>
          <p:cNvCxnSpPr/>
          <p:nvPr/>
        </p:nvCxnSpPr>
        <p:spPr>
          <a:xfrm>
            <a:off x="2905125" y="381000"/>
            <a:ext cx="0" cy="41910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5" name="Google Shape;135;p16"/>
          <p:cNvGrpSpPr/>
          <p:nvPr/>
        </p:nvGrpSpPr>
        <p:grpSpPr>
          <a:xfrm>
            <a:off x="3143250" y="381000"/>
            <a:ext cx="5619900" cy="4191075"/>
            <a:chOff x="3143250" y="381000"/>
            <a:chExt cx="5619900" cy="4191075"/>
          </a:xfrm>
        </p:grpSpPr>
        <p:sp>
          <p:nvSpPr>
            <p:cNvPr id="136" name="Google Shape;136;p16"/>
            <p:cNvSpPr txBox="1"/>
            <p:nvPr/>
          </p:nvSpPr>
          <p:spPr>
            <a:xfrm>
              <a:off x="3143250" y="381000"/>
              <a:ext cx="5619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Thermal Zone Allocation (3 Zones)</a:t>
              </a:r>
              <a:endParaRPr b="0" sz="1100">
                <a:solidFill>
                  <a:srgbClr val="0052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137" name="Google Shape;137;p16"/>
            <p:cNvGrpSpPr/>
            <p:nvPr/>
          </p:nvGrpSpPr>
          <p:grpSpPr>
            <a:xfrm>
              <a:off x="3143250" y="666750"/>
              <a:ext cx="1771800" cy="904800"/>
              <a:chOff x="0" y="0"/>
              <a:chExt cx="1771800" cy="904800"/>
            </a:xfrm>
          </p:grpSpPr>
          <p:sp>
            <p:nvSpPr>
              <p:cNvPr id="138" name="Google Shape;138;p16"/>
              <p:cNvSpPr/>
              <p:nvPr/>
            </p:nvSpPr>
            <p:spPr>
              <a:xfrm>
                <a:off x="0" y="0"/>
                <a:ext cx="1771800" cy="9048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16"/>
              <p:cNvSpPr/>
              <p:nvPr/>
            </p:nvSpPr>
            <p:spPr>
              <a:xfrm>
                <a:off x="0" y="0"/>
                <a:ext cx="1771800" cy="28500"/>
              </a:xfrm>
              <a:prstGeom prst="rect">
                <a:avLst/>
              </a:prstGeom>
              <a:solidFill>
                <a:srgbClr val="0052C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6"/>
              <p:cNvSpPr txBox="1"/>
              <p:nvPr/>
            </p:nvSpPr>
            <p:spPr>
              <a:xfrm>
                <a:off x="152400" y="133350"/>
                <a:ext cx="1467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86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ZONE 01</a:t>
                </a:r>
                <a:endParaRPr b="0" sz="786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18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Master Bedroom</a:t>
                </a:r>
                <a:endParaRPr b="0" sz="1018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" sz="1850">
                    <a:solidFill>
                      <a:srgbClr val="0052CC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30 m²</a:t>
                </a:r>
                <a:endParaRPr b="1" sz="1850">
                  <a:solidFill>
                    <a:srgbClr val="0052CC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grpSp>
          <p:nvGrpSpPr>
            <p:cNvPr id="141" name="Google Shape;141;p16"/>
            <p:cNvGrpSpPr/>
            <p:nvPr/>
          </p:nvGrpSpPr>
          <p:grpSpPr>
            <a:xfrm>
              <a:off x="5067300" y="666750"/>
              <a:ext cx="1771800" cy="904800"/>
              <a:chOff x="0" y="0"/>
              <a:chExt cx="1771800" cy="904800"/>
            </a:xfrm>
          </p:grpSpPr>
          <p:sp>
            <p:nvSpPr>
              <p:cNvPr id="142" name="Google Shape;142;p16"/>
              <p:cNvSpPr/>
              <p:nvPr/>
            </p:nvSpPr>
            <p:spPr>
              <a:xfrm>
                <a:off x="0" y="0"/>
                <a:ext cx="1771800" cy="9048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16"/>
              <p:cNvSpPr/>
              <p:nvPr/>
            </p:nvSpPr>
            <p:spPr>
              <a:xfrm>
                <a:off x="0" y="0"/>
                <a:ext cx="1771800" cy="28500"/>
              </a:xfrm>
              <a:prstGeom prst="rect">
                <a:avLst/>
              </a:prstGeom>
              <a:solidFill>
                <a:srgbClr val="0052C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6"/>
              <p:cNvSpPr txBox="1"/>
              <p:nvPr/>
            </p:nvSpPr>
            <p:spPr>
              <a:xfrm>
                <a:off x="152400" y="133350"/>
                <a:ext cx="1467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86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ZONE 02</a:t>
                </a:r>
                <a:endParaRPr b="0" sz="786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18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Living + Dining</a:t>
                </a:r>
                <a:endParaRPr b="0" sz="1018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" sz="1850">
                    <a:solidFill>
                      <a:srgbClr val="0052CC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45 m²</a:t>
                </a:r>
                <a:endParaRPr b="1" sz="1850">
                  <a:solidFill>
                    <a:srgbClr val="0052CC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grpSp>
          <p:nvGrpSpPr>
            <p:cNvPr id="145" name="Google Shape;145;p16"/>
            <p:cNvGrpSpPr/>
            <p:nvPr/>
          </p:nvGrpSpPr>
          <p:grpSpPr>
            <a:xfrm>
              <a:off x="6991350" y="666750"/>
              <a:ext cx="1771800" cy="904800"/>
              <a:chOff x="0" y="0"/>
              <a:chExt cx="1771800" cy="904800"/>
            </a:xfrm>
          </p:grpSpPr>
          <p:sp>
            <p:nvSpPr>
              <p:cNvPr id="146" name="Google Shape;146;p16"/>
              <p:cNvSpPr/>
              <p:nvPr/>
            </p:nvSpPr>
            <p:spPr>
              <a:xfrm>
                <a:off x="0" y="0"/>
                <a:ext cx="1771800" cy="9048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6"/>
              <p:cNvSpPr/>
              <p:nvPr/>
            </p:nvSpPr>
            <p:spPr>
              <a:xfrm>
                <a:off x="0" y="0"/>
                <a:ext cx="1771800" cy="28500"/>
              </a:xfrm>
              <a:prstGeom prst="rect">
                <a:avLst/>
              </a:prstGeom>
              <a:solidFill>
                <a:srgbClr val="0052C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6"/>
              <p:cNvSpPr txBox="1"/>
              <p:nvPr/>
            </p:nvSpPr>
            <p:spPr>
              <a:xfrm>
                <a:off x="152400" y="133350"/>
                <a:ext cx="1467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86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ZONE 03</a:t>
                </a:r>
                <a:endParaRPr b="0" sz="786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18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Second Bedroom</a:t>
                </a:r>
                <a:endParaRPr b="0" sz="1018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" sz="1850">
                    <a:solidFill>
                      <a:srgbClr val="0052CC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20 m²</a:t>
                </a:r>
                <a:endParaRPr b="1" sz="1850">
                  <a:solidFill>
                    <a:srgbClr val="0052CC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sp>
          <p:nvSpPr>
            <p:cNvPr id="149" name="Google Shape;149;p16"/>
            <p:cNvSpPr txBox="1"/>
            <p:nvPr/>
          </p:nvSpPr>
          <p:spPr>
            <a:xfrm>
              <a:off x="3143250" y="1762125"/>
              <a:ext cx="5619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Thermal Network &amp; Envelope Properties</a:t>
              </a:r>
              <a:endParaRPr b="0" sz="1100">
                <a:solidFill>
                  <a:srgbClr val="0052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150" name="Google Shape;150;p16"/>
            <p:cNvGrpSpPr/>
            <p:nvPr/>
          </p:nvGrpSpPr>
          <p:grpSpPr>
            <a:xfrm>
              <a:off x="3143250" y="2047875"/>
              <a:ext cx="5619900" cy="1238400"/>
              <a:chOff x="0" y="0"/>
              <a:chExt cx="5619900" cy="1238400"/>
            </a:xfrm>
          </p:grpSpPr>
          <p:sp>
            <p:nvSpPr>
              <p:cNvPr id="151" name="Google Shape;151;p16"/>
              <p:cNvSpPr/>
              <p:nvPr/>
            </p:nvSpPr>
            <p:spPr>
              <a:xfrm>
                <a:off x="0" y="0"/>
                <a:ext cx="5619900" cy="1238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6"/>
              <p:cNvSpPr/>
              <p:nvPr/>
            </p:nvSpPr>
            <p:spPr>
              <a:xfrm>
                <a:off x="0" y="0"/>
                <a:ext cx="38100" cy="1238400"/>
              </a:xfrm>
              <a:prstGeom prst="rect">
                <a:avLst/>
              </a:prstGeom>
              <a:solidFill>
                <a:srgbClr val="0052C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6"/>
              <p:cNvSpPr txBox="1"/>
              <p:nvPr/>
            </p:nvSpPr>
            <p:spPr>
              <a:xfrm>
                <a:off x="190500" y="152400"/>
                <a:ext cx="52389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Lumped Thermal Capacitance Model:</a:t>
                </a:r>
                <a:r>
                  <a:rPr b="0" lang="en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 Constructed with a 150 mm RCC slab and high-mass masonry walls.</a:t>
                </a:r>
                <a:endParaRPr b="0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Zone Thermal Response:</a:t>
                </a:r>
                <a:r>
                  <a:rPr b="0" lang="en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 Calculated thermal time constants range between </a:t>
                </a:r>
                <a:r>
                  <a:rPr b="0" lang="en" sz="1100">
                    <a:solidFill>
                      <a:srgbClr val="0052C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56 and 66 hours</a:t>
                </a:r>
                <a:r>
                  <a:rPr b="0" lang="en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, defining dynamic thermal inertia.</a:t>
                </a:r>
                <a:endParaRPr b="0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154" name="Google Shape;154;p16"/>
            <p:cNvSpPr txBox="1"/>
            <p:nvPr/>
          </p:nvSpPr>
          <p:spPr>
            <a:xfrm>
              <a:off x="3143250" y="3476625"/>
              <a:ext cx="5619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Meteorological Profile Inputs</a:t>
              </a:r>
              <a:endParaRPr b="0" sz="1100">
                <a:solidFill>
                  <a:srgbClr val="0052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155" name="Google Shape;155;p16"/>
            <p:cNvGrpSpPr/>
            <p:nvPr/>
          </p:nvGrpSpPr>
          <p:grpSpPr>
            <a:xfrm>
              <a:off x="3143250" y="3762375"/>
              <a:ext cx="5619900" cy="809700"/>
              <a:chOff x="0" y="0"/>
              <a:chExt cx="5619900" cy="809700"/>
            </a:xfrm>
          </p:grpSpPr>
          <p:sp>
            <p:nvSpPr>
              <p:cNvPr id="156" name="Google Shape;156;p16"/>
              <p:cNvSpPr/>
              <p:nvPr/>
            </p:nvSpPr>
            <p:spPr>
              <a:xfrm>
                <a:off x="0" y="0"/>
                <a:ext cx="5619900" cy="8097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6"/>
              <p:cNvSpPr txBox="1"/>
              <p:nvPr/>
            </p:nvSpPr>
            <p:spPr>
              <a:xfrm>
                <a:off x="190500" y="171450"/>
                <a:ext cx="16191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PARAMETER 01</a:t>
                </a:r>
                <a:endParaRPr b="0" sz="85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Dry-Bulb Temp</a:t>
                </a:r>
                <a:endParaRPr b="0" sz="105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cxnSp>
            <p:nvCxnSpPr>
              <p:cNvPr id="158" name="Google Shape;158;p16"/>
              <p:cNvCxnSpPr/>
              <p:nvPr/>
            </p:nvCxnSpPr>
            <p:spPr>
              <a:xfrm>
                <a:off x="1905000" y="171450"/>
                <a:ext cx="0" cy="4668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59" name="Google Shape;159;p16"/>
              <p:cNvSpPr txBox="1"/>
              <p:nvPr/>
            </p:nvSpPr>
            <p:spPr>
              <a:xfrm>
                <a:off x="2047875" y="171450"/>
                <a:ext cx="16191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PARAMETER 02</a:t>
                </a:r>
                <a:endParaRPr b="0" sz="85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Relative Humidity</a:t>
                </a:r>
                <a:endParaRPr b="0" sz="105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cxnSp>
            <p:nvCxnSpPr>
              <p:cNvPr id="160" name="Google Shape;160;p16"/>
              <p:cNvCxnSpPr/>
              <p:nvPr/>
            </p:nvCxnSpPr>
            <p:spPr>
              <a:xfrm>
                <a:off x="3762375" y="171450"/>
                <a:ext cx="0" cy="4668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1" name="Google Shape;161;p16"/>
              <p:cNvSpPr txBox="1"/>
              <p:nvPr/>
            </p:nvSpPr>
            <p:spPr>
              <a:xfrm>
                <a:off x="3905250" y="171450"/>
                <a:ext cx="15717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PARAMETER 03</a:t>
                </a:r>
                <a:endParaRPr b="0" sz="85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Solar Irradiance</a:t>
                </a:r>
                <a:endParaRPr b="0" sz="105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/>
          <p:nvPr/>
        </p:nvSpPr>
        <p:spPr>
          <a:xfrm>
            <a:off x="381000" y="285750"/>
            <a:ext cx="304800" cy="381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381000" y="428625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Integrated HVAC System Configuration</a:t>
            </a:r>
            <a:endParaRPr b="1" sz="2200">
              <a:solidFill>
                <a:srgbClr val="1A20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68" name="Google Shape;168;p17"/>
          <p:cNvCxnSpPr/>
          <p:nvPr/>
        </p:nvCxnSpPr>
        <p:spPr>
          <a:xfrm>
            <a:off x="381000" y="85725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9" name="Google Shape;169;p17"/>
          <p:cNvGrpSpPr/>
          <p:nvPr/>
        </p:nvGrpSpPr>
        <p:grpSpPr>
          <a:xfrm>
            <a:off x="381000" y="1143000"/>
            <a:ext cx="8382000" cy="3429000"/>
            <a:chOff x="0" y="0"/>
            <a:chExt cx="8382000" cy="3429000"/>
          </a:xfrm>
        </p:grpSpPr>
        <p:grpSp>
          <p:nvGrpSpPr>
            <p:cNvPr id="170" name="Google Shape;170;p17"/>
            <p:cNvGrpSpPr/>
            <p:nvPr/>
          </p:nvGrpSpPr>
          <p:grpSpPr>
            <a:xfrm>
              <a:off x="0" y="0"/>
              <a:ext cx="2590800" cy="3429000"/>
              <a:chOff x="0" y="0"/>
              <a:chExt cx="2590800" cy="3429000"/>
            </a:xfrm>
          </p:grpSpPr>
          <p:sp>
            <p:nvSpPr>
              <p:cNvPr id="171" name="Google Shape;171;p17"/>
              <p:cNvSpPr/>
              <p:nvPr/>
            </p:nvSpPr>
            <p:spPr>
              <a:xfrm>
                <a:off x="0" y="0"/>
                <a:ext cx="2590800" cy="3429000"/>
              </a:xfrm>
              <a:prstGeom prst="roundRect">
                <a:avLst>
                  <a:gd fmla="val 73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7"/>
              <p:cNvSpPr/>
              <p:nvPr/>
            </p:nvSpPr>
            <p:spPr>
              <a:xfrm>
                <a:off x="0" y="0"/>
                <a:ext cx="2590800" cy="38100"/>
              </a:xfrm>
              <a:prstGeom prst="rect">
                <a:avLst/>
              </a:prstGeom>
              <a:solidFill>
                <a:srgbClr val="0052C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7"/>
              <p:cNvSpPr txBox="1"/>
              <p:nvPr/>
            </p:nvSpPr>
            <p:spPr>
              <a:xfrm>
                <a:off x="190500" y="228600"/>
                <a:ext cx="2209800" cy="297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052C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Primary Thermal Control</a:t>
                </a:r>
                <a:endParaRPr b="0" sz="90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Variable Refrigerant Flow (VRF)</a:t>
                </a:r>
                <a:endParaRPr b="0" sz="140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Rated Capacity</a:t>
                </a:r>
                <a:endParaRPr b="0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2800">
                    <a:solidFill>
                      <a:srgbClr val="0052CC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11.0 </a:t>
                </a:r>
                <a:r>
                  <a:rPr b="0" lang="en" sz="1400">
                    <a:solidFill>
                      <a:srgbClr val="0052CC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kW</a:t>
                </a:r>
                <a:endParaRPr b="1" sz="2800">
                  <a:solidFill>
                    <a:srgbClr val="0052CC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Variable COP Performance:</a:t>
                </a:r>
                <a:endParaRPr b="0" sz="110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• </a:t>
                </a:r>
                <a:r>
                  <a:rPr b="0" lang="en" sz="1100">
                    <a:solidFill>
                      <a:srgbClr val="4A5568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4.2</a:t>
                </a:r>
                <a:r>
                  <a:rPr b="0" lang="en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 at 35°C outdoor temp</a:t>
                </a:r>
                <a:endParaRPr b="0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• Drops to approx. </a:t>
                </a:r>
                <a:r>
                  <a:rPr b="0" lang="en" sz="1100">
                    <a:solidFill>
                      <a:srgbClr val="4A5568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3.0</a:t>
                </a:r>
                <a:r>
                  <a:rPr b="0" lang="en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 at 44°C</a:t>
                </a:r>
                <a:endParaRPr b="0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74" name="Google Shape;174;p17"/>
            <p:cNvGrpSpPr/>
            <p:nvPr/>
          </p:nvGrpSpPr>
          <p:grpSpPr>
            <a:xfrm>
              <a:off x="2895600" y="0"/>
              <a:ext cx="2590800" cy="3429000"/>
              <a:chOff x="0" y="0"/>
              <a:chExt cx="2590800" cy="3429000"/>
            </a:xfrm>
          </p:grpSpPr>
          <p:sp>
            <p:nvSpPr>
              <p:cNvPr id="175" name="Google Shape;175;p17"/>
              <p:cNvSpPr/>
              <p:nvPr/>
            </p:nvSpPr>
            <p:spPr>
              <a:xfrm>
                <a:off x="0" y="0"/>
                <a:ext cx="2590800" cy="3429000"/>
              </a:xfrm>
              <a:prstGeom prst="roundRect">
                <a:avLst>
                  <a:gd fmla="val 73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7"/>
              <p:cNvSpPr/>
              <p:nvPr/>
            </p:nvSpPr>
            <p:spPr>
              <a:xfrm>
                <a:off x="0" y="0"/>
                <a:ext cx="2590800" cy="38100"/>
              </a:xfrm>
              <a:prstGeom prst="rect">
                <a:avLst/>
              </a:prstGeom>
              <a:solidFill>
                <a:srgbClr val="0596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7"/>
              <p:cNvSpPr txBox="1"/>
              <p:nvPr/>
            </p:nvSpPr>
            <p:spPr>
              <a:xfrm>
                <a:off x="190500" y="228600"/>
                <a:ext cx="2209800" cy="297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5966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Evaporative Pre-Cooling</a:t>
                </a:r>
                <a:endParaRPr b="0" sz="9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Indirect Evaporative Cooler (IEC)</a:t>
                </a:r>
                <a:endParaRPr b="0" sz="140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Airflow Rate</a:t>
                </a:r>
                <a:endParaRPr b="0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2800">
                    <a:solidFill>
                      <a:srgbClr val="059669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0.35 </a:t>
                </a:r>
                <a:r>
                  <a:rPr b="0" lang="en" sz="1400">
                    <a:solidFill>
                      <a:srgbClr val="059669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m³/s</a:t>
                </a:r>
                <a:endParaRPr b="1" sz="2800">
                  <a:solidFill>
                    <a:srgbClr val="059669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Operating Thresholds:</a:t>
                </a:r>
                <a:endParaRPr b="0" sz="110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• Outdoor RH </a:t>
                </a:r>
                <a:r>
                  <a:rPr b="0" lang="en" sz="1100">
                    <a:solidFill>
                      <a:srgbClr val="4A5568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&lt; 50%</a:t>
                </a:r>
                <a:endParaRPr b="0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• Temperature </a:t>
                </a:r>
                <a:r>
                  <a:rPr b="0" lang="en" sz="1100">
                    <a:solidFill>
                      <a:srgbClr val="4A5568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&gt; 28°C</a:t>
                </a:r>
                <a:endParaRPr b="0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78" name="Google Shape;178;p17"/>
            <p:cNvGrpSpPr/>
            <p:nvPr/>
          </p:nvGrpSpPr>
          <p:grpSpPr>
            <a:xfrm>
              <a:off x="5791200" y="0"/>
              <a:ext cx="2590800" cy="3429000"/>
              <a:chOff x="0" y="0"/>
              <a:chExt cx="2590800" cy="3429000"/>
            </a:xfrm>
          </p:grpSpPr>
          <p:sp>
            <p:nvSpPr>
              <p:cNvPr id="179" name="Google Shape;179;p17"/>
              <p:cNvSpPr/>
              <p:nvPr/>
            </p:nvSpPr>
            <p:spPr>
              <a:xfrm>
                <a:off x="0" y="0"/>
                <a:ext cx="2590800" cy="3429000"/>
              </a:xfrm>
              <a:prstGeom prst="roundRect">
                <a:avLst>
                  <a:gd fmla="val 73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7"/>
              <p:cNvSpPr/>
              <p:nvPr/>
            </p:nvSpPr>
            <p:spPr>
              <a:xfrm>
                <a:off x="0" y="0"/>
                <a:ext cx="2590800" cy="38100"/>
              </a:xfrm>
              <a:prstGeom prst="rect">
                <a:avLst/>
              </a:prstGeom>
              <a:solidFill>
                <a:srgbClr val="0052C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7"/>
              <p:cNvSpPr txBox="1"/>
              <p:nvPr/>
            </p:nvSpPr>
            <p:spPr>
              <a:xfrm>
                <a:off x="190500" y="228600"/>
                <a:ext cx="2209800" cy="297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052C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Dedicated Ventilation</a:t>
                </a:r>
                <a:endParaRPr b="0" sz="90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Dedicated Outdoor Air System (DOAS)</a:t>
                </a:r>
                <a:endParaRPr b="0" sz="140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Fresh Air Supply</a:t>
                </a:r>
                <a:endParaRPr b="0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2800">
                    <a:solidFill>
                      <a:srgbClr val="0052CC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0.06 </a:t>
                </a:r>
                <a:r>
                  <a:rPr b="0" lang="en" sz="1400">
                    <a:solidFill>
                      <a:srgbClr val="0052CC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m³/s</a:t>
                </a:r>
                <a:endParaRPr b="1" sz="2800">
                  <a:solidFill>
                    <a:srgbClr val="0052CC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Operating Thresholds:</a:t>
                </a:r>
                <a:endParaRPr b="0" sz="110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• Outdoor RH </a:t>
                </a:r>
                <a:r>
                  <a:rPr b="0" lang="en" sz="1100">
                    <a:solidFill>
                      <a:srgbClr val="4A5568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&gt; 65%</a:t>
                </a:r>
                <a:endParaRPr b="0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• Temperature </a:t>
                </a:r>
                <a:r>
                  <a:rPr b="0" lang="en" sz="1100">
                    <a:solidFill>
                      <a:srgbClr val="4A5568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&gt; 22°C</a:t>
                </a:r>
                <a:endParaRPr b="0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/>
          <p:nvPr/>
        </p:nvSpPr>
        <p:spPr>
          <a:xfrm>
            <a:off x="381000" y="285750"/>
            <a:ext cx="304800" cy="381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381000" y="428625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Control Strategy Evaluation</a:t>
            </a:r>
            <a:endParaRPr b="1" sz="2200">
              <a:solidFill>
                <a:srgbClr val="1A20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88" name="Google Shape;188;p18"/>
          <p:cNvCxnSpPr/>
          <p:nvPr/>
        </p:nvCxnSpPr>
        <p:spPr>
          <a:xfrm>
            <a:off x="381000" y="85725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18"/>
          <p:cNvSpPr txBox="1"/>
          <p:nvPr/>
        </p:nvSpPr>
        <p:spPr>
          <a:xfrm>
            <a:off x="381000" y="1000125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rPr>
              <a:t>Evaluating five distinct control strategies ranging from reactive rules to adaptive fusion.</a:t>
            </a:r>
            <a:endParaRPr b="0" sz="1100">
              <a:solidFill>
                <a:srgbClr val="71809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90" name="Google Shape;190;p18"/>
          <p:cNvGrpSpPr/>
          <p:nvPr/>
        </p:nvGrpSpPr>
        <p:grpSpPr>
          <a:xfrm>
            <a:off x="381000" y="1381125"/>
            <a:ext cx="8382000" cy="3286200"/>
            <a:chOff x="0" y="0"/>
            <a:chExt cx="8382000" cy="3286200"/>
          </a:xfrm>
        </p:grpSpPr>
        <p:sp>
          <p:nvSpPr>
            <p:cNvPr id="191" name="Google Shape;191;p18"/>
            <p:cNvSpPr/>
            <p:nvPr/>
          </p:nvSpPr>
          <p:spPr>
            <a:xfrm>
              <a:off x="0" y="0"/>
              <a:ext cx="8382000" cy="3286200"/>
            </a:xfrm>
            <a:prstGeom prst="roundRect">
              <a:avLst>
                <a:gd fmla="val 115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8"/>
            <p:cNvSpPr txBox="1"/>
            <p:nvPr/>
          </p:nvSpPr>
          <p:spPr>
            <a:xfrm>
              <a:off x="285750" y="238125"/>
              <a:ext cx="7810500" cy="28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Baseline:</a:t>
              </a:r>
              <a:r>
                <a:rPr b="0" lang="en" sz="12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Reactive rule-based controller with no deadband or anti-windup.</a:t>
              </a:r>
              <a:endParaRPr b="0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PID:</a:t>
              </a:r>
              <a:r>
                <a:rPr b="0" lang="en" sz="12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Three-zone independent loops with anti-windup.</a:t>
              </a:r>
              <a:endParaRPr b="0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MPC:</a:t>
              </a:r>
              <a:r>
                <a:rPr b="0" lang="en" sz="12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12-step-ahead receding-horizon predictive controller.</a:t>
              </a:r>
              <a:endParaRPr b="0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RL-DQN:</a:t>
              </a:r>
              <a:r>
                <a:rPr b="0" lang="en" sz="12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Deep Q-network reinforcement learning, running greedily from pretrained weights.</a:t>
              </a:r>
              <a:endParaRPr b="0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1050"/>
                </a:spcAft>
                <a:buNone/>
              </a:pPr>
              <a:r>
                <a:rPr b="0" lang="en" sz="120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Hybrid:</a:t>
              </a:r>
              <a:r>
                <a:rPr b="0" lang="en" sz="12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Adaptive fusion of a 24-step MPC-like predictive layer and a three-zone PID layer with a bounded safety term.</a:t>
              </a:r>
              <a:endParaRPr b="0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381000" y="266700"/>
            <a:ext cx="304800" cy="381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381000" y="381000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Advanced Controllers Reduce Tracking Error by up to 75%</a:t>
            </a:r>
            <a:endParaRPr b="1" sz="2000">
              <a:solidFill>
                <a:srgbClr val="1A20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00" name="Google Shape;200;p19"/>
          <p:cNvCxnSpPr/>
          <p:nvPr/>
        </p:nvCxnSpPr>
        <p:spPr>
          <a:xfrm>
            <a:off x="381000" y="8382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1" name="Google Shape;201;p19"/>
          <p:cNvGrpSpPr/>
          <p:nvPr/>
        </p:nvGrpSpPr>
        <p:grpSpPr>
          <a:xfrm>
            <a:off x="381000" y="971550"/>
            <a:ext cx="8382000" cy="647700"/>
            <a:chOff x="0" y="0"/>
            <a:chExt cx="8382000" cy="647700"/>
          </a:xfrm>
        </p:grpSpPr>
        <p:sp>
          <p:nvSpPr>
            <p:cNvPr id="202" name="Google Shape;202;p19"/>
            <p:cNvSpPr/>
            <p:nvPr/>
          </p:nvSpPr>
          <p:spPr>
            <a:xfrm>
              <a:off x="0" y="0"/>
              <a:ext cx="8382000" cy="647700"/>
            </a:xfrm>
            <a:prstGeom prst="roundRect">
              <a:avLst>
                <a:gd fmla="val 294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9"/>
            <p:cNvSpPr/>
            <p:nvPr/>
          </p:nvSpPr>
          <p:spPr>
            <a:xfrm>
              <a:off x="0" y="0"/>
              <a:ext cx="38100" cy="6477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9"/>
            <p:cNvSpPr txBox="1"/>
            <p:nvPr/>
          </p:nvSpPr>
          <p:spPr>
            <a:xfrm>
              <a:off x="190500" y="95250"/>
              <a:ext cx="8001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2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Control Performance Takeaway</a:t>
              </a:r>
              <a:endParaRPr b="0" sz="1020">
                <a:solidFill>
                  <a:srgbClr val="0052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Advanced controllers dramatically increase comfortable hours while minimizing tracking error (RMSE) compared to baseline operations.</a:t>
              </a:r>
              <a:endParaRPr b="0" sz="935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5" name="Google Shape;205;p19"/>
          <p:cNvGrpSpPr/>
          <p:nvPr/>
        </p:nvGrpSpPr>
        <p:grpSpPr>
          <a:xfrm>
            <a:off x="381000" y="1762125"/>
            <a:ext cx="8382000" cy="2343300"/>
            <a:chOff x="0" y="0"/>
            <a:chExt cx="8382000" cy="2343300"/>
          </a:xfrm>
        </p:grpSpPr>
        <p:sp>
          <p:nvSpPr>
            <p:cNvPr id="206" name="Google Shape;206;p19"/>
            <p:cNvSpPr/>
            <p:nvPr/>
          </p:nvSpPr>
          <p:spPr>
            <a:xfrm>
              <a:off x="0" y="0"/>
              <a:ext cx="8382000" cy="3429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9"/>
            <p:cNvSpPr txBox="1"/>
            <p:nvPr/>
          </p:nvSpPr>
          <p:spPr>
            <a:xfrm>
              <a:off x="190500" y="76200"/>
              <a:ext cx="2095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Controller Strategy</a:t>
              </a:r>
              <a:endParaRPr b="0" sz="900">
                <a:solidFill>
                  <a:srgbClr val="71809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08" name="Google Shape;208;p19"/>
            <p:cNvSpPr txBox="1"/>
            <p:nvPr/>
          </p:nvSpPr>
          <p:spPr>
            <a:xfrm>
              <a:off x="2476500" y="76200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RMSE (°C)</a:t>
              </a:r>
              <a:endParaRPr b="0" sz="900">
                <a:solidFill>
                  <a:srgbClr val="71809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09" name="Google Shape;209;p19"/>
            <p:cNvSpPr txBox="1"/>
            <p:nvPr/>
          </p:nvSpPr>
          <p:spPr>
            <a:xfrm>
              <a:off x="4381500" y="7620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Comfortable Hours (%)</a:t>
              </a:r>
              <a:endParaRPr b="0" sz="900">
                <a:solidFill>
                  <a:srgbClr val="71809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10" name="Google Shape;210;p19"/>
            <p:cNvSpPr txBox="1"/>
            <p:nvPr/>
          </p:nvSpPr>
          <p:spPr>
            <a:xfrm>
              <a:off x="6477000" y="76200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Operational Notes</a:t>
              </a:r>
              <a:endParaRPr b="0" sz="900">
                <a:solidFill>
                  <a:srgbClr val="71809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11" name="Google Shape;211;p19"/>
            <p:cNvSpPr/>
            <p:nvPr/>
          </p:nvSpPr>
          <p:spPr>
            <a:xfrm>
              <a:off x="0" y="342900"/>
              <a:ext cx="8382000" cy="40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2" name="Google Shape;212;p19"/>
            <p:cNvCxnSpPr/>
            <p:nvPr/>
          </p:nvCxnSpPr>
          <p:spPr>
            <a:xfrm>
              <a:off x="0" y="74295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3" name="Google Shape;213;p19"/>
            <p:cNvSpPr txBox="1"/>
            <p:nvPr/>
          </p:nvSpPr>
          <p:spPr>
            <a:xfrm>
              <a:off x="190500" y="447675"/>
              <a:ext cx="2095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DC262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Baseline</a:t>
              </a:r>
              <a:endParaRPr b="0" sz="1100">
                <a:solidFill>
                  <a:srgbClr val="DC262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14" name="Google Shape;214;p19"/>
            <p:cNvSpPr txBox="1"/>
            <p:nvPr/>
          </p:nvSpPr>
          <p:spPr>
            <a:xfrm>
              <a:off x="2476500" y="447675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DC262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6.84°C</a:t>
              </a:r>
              <a:endParaRPr b="0" sz="1203">
                <a:solidFill>
                  <a:srgbClr val="DC262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215" name="Google Shape;215;p19"/>
            <p:cNvSpPr txBox="1"/>
            <p:nvPr/>
          </p:nvSpPr>
          <p:spPr>
            <a:xfrm>
              <a:off x="4381500" y="447675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DC262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11.3%</a:t>
              </a:r>
              <a:endParaRPr b="0" sz="1203">
                <a:solidFill>
                  <a:srgbClr val="DC262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216" name="Google Shape;216;p19"/>
            <p:cNvSpPr txBox="1"/>
            <p:nvPr/>
          </p:nvSpPr>
          <p:spPr>
            <a:xfrm>
              <a:off x="6477000" y="447675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Severe overshoot/undershoot</a:t>
              </a:r>
              <a:endParaRPr b="0" sz="925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0" y="742950"/>
              <a:ext cx="8382000" cy="40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8" name="Google Shape;218;p19"/>
            <p:cNvCxnSpPr/>
            <p:nvPr/>
          </p:nvCxnSpPr>
          <p:spPr>
            <a:xfrm>
              <a:off x="0" y="11430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9" name="Google Shape;219;p19"/>
            <p:cNvSpPr txBox="1"/>
            <p:nvPr/>
          </p:nvSpPr>
          <p:spPr>
            <a:xfrm>
              <a:off x="190500" y="847725"/>
              <a:ext cx="2095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PID</a:t>
              </a:r>
              <a:endParaRPr b="0" sz="1100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20" name="Google Shape;220;p19"/>
            <p:cNvSpPr txBox="1"/>
            <p:nvPr/>
          </p:nvSpPr>
          <p:spPr>
            <a:xfrm>
              <a:off x="2476500" y="847725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1A202C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1.79°C</a:t>
              </a:r>
              <a:endParaRPr b="0" sz="1203">
                <a:solidFill>
                  <a:srgbClr val="1A202C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221" name="Google Shape;221;p19"/>
            <p:cNvSpPr txBox="1"/>
            <p:nvPr/>
          </p:nvSpPr>
          <p:spPr>
            <a:xfrm>
              <a:off x="4381500" y="847725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1A202C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68.2%</a:t>
              </a:r>
              <a:endParaRPr b="0" sz="1203">
                <a:solidFill>
                  <a:srgbClr val="1A202C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222" name="Google Shape;222;p19"/>
            <p:cNvSpPr txBox="1"/>
            <p:nvPr/>
          </p:nvSpPr>
          <p:spPr>
            <a:xfrm>
              <a:off x="6477000" y="847725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Standard feedback</a:t>
              </a:r>
              <a:endParaRPr b="0" sz="10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3" name="Google Shape;223;p19"/>
            <p:cNvSpPr/>
            <p:nvPr/>
          </p:nvSpPr>
          <p:spPr>
            <a:xfrm>
              <a:off x="0" y="1143000"/>
              <a:ext cx="8382000" cy="40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4" name="Google Shape;224;p19"/>
            <p:cNvCxnSpPr/>
            <p:nvPr/>
          </p:nvCxnSpPr>
          <p:spPr>
            <a:xfrm>
              <a:off x="0" y="154305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5" name="Google Shape;225;p19"/>
            <p:cNvSpPr txBox="1"/>
            <p:nvPr/>
          </p:nvSpPr>
          <p:spPr>
            <a:xfrm>
              <a:off x="190500" y="1247775"/>
              <a:ext cx="2095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MPC</a:t>
              </a:r>
              <a:endParaRPr b="0" sz="1100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26" name="Google Shape;226;p19"/>
            <p:cNvSpPr txBox="1"/>
            <p:nvPr/>
          </p:nvSpPr>
          <p:spPr>
            <a:xfrm>
              <a:off x="2476500" y="1247775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059669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1.73°C</a:t>
              </a:r>
              <a:endParaRPr b="0" sz="1203">
                <a:solidFill>
                  <a:srgbClr val="059669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227" name="Google Shape;227;p19"/>
            <p:cNvSpPr txBox="1"/>
            <p:nvPr/>
          </p:nvSpPr>
          <p:spPr>
            <a:xfrm>
              <a:off x="4381500" y="1247775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059669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72.8%</a:t>
              </a:r>
              <a:endParaRPr b="0" sz="1203">
                <a:solidFill>
                  <a:srgbClr val="059669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228" name="Google Shape;228;p19"/>
            <p:cNvSpPr txBox="1"/>
            <p:nvPr/>
          </p:nvSpPr>
          <p:spPr>
            <a:xfrm>
              <a:off x="6477000" y="1247775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Highest comfort performance</a:t>
              </a:r>
              <a:endParaRPr b="0" sz="925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0" y="1543050"/>
              <a:ext cx="8382000" cy="40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0" name="Google Shape;230;p19"/>
            <p:cNvCxnSpPr/>
            <p:nvPr/>
          </p:nvCxnSpPr>
          <p:spPr>
            <a:xfrm>
              <a:off x="0" y="19431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1" name="Google Shape;231;p19"/>
            <p:cNvSpPr txBox="1"/>
            <p:nvPr/>
          </p:nvSpPr>
          <p:spPr>
            <a:xfrm>
              <a:off x="190500" y="1647825"/>
              <a:ext cx="2095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RL-DQN</a:t>
              </a:r>
              <a:endParaRPr b="0" sz="1100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32" name="Google Shape;232;p19"/>
            <p:cNvSpPr txBox="1"/>
            <p:nvPr/>
          </p:nvSpPr>
          <p:spPr>
            <a:xfrm>
              <a:off x="2476500" y="1647825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1A202C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2.17°C</a:t>
              </a:r>
              <a:endParaRPr b="0" sz="1203">
                <a:solidFill>
                  <a:srgbClr val="1A202C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233" name="Google Shape;233;p19"/>
            <p:cNvSpPr txBox="1"/>
            <p:nvPr/>
          </p:nvSpPr>
          <p:spPr>
            <a:xfrm>
              <a:off x="4381500" y="1647825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1A202C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57.8%</a:t>
              </a:r>
              <a:endParaRPr b="0" sz="1203">
                <a:solidFill>
                  <a:srgbClr val="1A202C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6477000" y="1647825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Model-free RL control</a:t>
              </a:r>
              <a:endParaRPr b="0" sz="10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5" name="Google Shape;235;p19"/>
            <p:cNvSpPr/>
            <p:nvPr/>
          </p:nvSpPr>
          <p:spPr>
            <a:xfrm>
              <a:off x="0" y="1943100"/>
              <a:ext cx="8382000" cy="40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6" name="Google Shape;236;p19"/>
            <p:cNvCxnSpPr/>
            <p:nvPr/>
          </p:nvCxnSpPr>
          <p:spPr>
            <a:xfrm>
              <a:off x="0" y="234315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7" name="Google Shape;237;p19"/>
            <p:cNvSpPr txBox="1"/>
            <p:nvPr/>
          </p:nvSpPr>
          <p:spPr>
            <a:xfrm>
              <a:off x="190500" y="2047875"/>
              <a:ext cx="2095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Hybrid</a:t>
              </a:r>
              <a:endParaRPr b="0" sz="1100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38" name="Google Shape;238;p19"/>
            <p:cNvSpPr txBox="1"/>
            <p:nvPr/>
          </p:nvSpPr>
          <p:spPr>
            <a:xfrm>
              <a:off x="2476500" y="2047875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1A202C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1.73°C</a:t>
              </a:r>
              <a:endParaRPr b="0" sz="1203">
                <a:solidFill>
                  <a:srgbClr val="1A202C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239" name="Google Shape;239;p19"/>
            <p:cNvSpPr txBox="1"/>
            <p:nvPr/>
          </p:nvSpPr>
          <p:spPr>
            <a:xfrm>
              <a:off x="4381500" y="2047875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1A202C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68.1%</a:t>
              </a:r>
              <a:endParaRPr b="0" sz="1203">
                <a:solidFill>
                  <a:srgbClr val="1A202C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240" name="Google Shape;240;p19"/>
            <p:cNvSpPr txBox="1"/>
            <p:nvPr/>
          </p:nvSpPr>
          <p:spPr>
            <a:xfrm>
              <a:off x="6477000" y="2047875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Combined strategy</a:t>
              </a:r>
              <a:endParaRPr b="0" sz="10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1" name="Google Shape;241;p19"/>
          <p:cNvGrpSpPr/>
          <p:nvPr/>
        </p:nvGrpSpPr>
        <p:grpSpPr>
          <a:xfrm>
            <a:off x="381000" y="4267200"/>
            <a:ext cx="8382000" cy="362100"/>
            <a:chOff x="0" y="0"/>
            <a:chExt cx="8382000" cy="362100"/>
          </a:xfrm>
        </p:grpSpPr>
        <p:sp>
          <p:nvSpPr>
            <p:cNvPr id="242" name="Google Shape;242;p19"/>
            <p:cNvSpPr/>
            <p:nvPr/>
          </p:nvSpPr>
          <p:spPr>
            <a:xfrm>
              <a:off x="0" y="0"/>
              <a:ext cx="8382000" cy="362100"/>
            </a:xfrm>
            <a:prstGeom prst="roundRect">
              <a:avLst>
                <a:gd fmla="val 52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9"/>
            <p:cNvSpPr txBox="1"/>
            <p:nvPr/>
          </p:nvSpPr>
          <p:spPr>
            <a:xfrm>
              <a:off x="152400" y="85725"/>
              <a:ext cx="8077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52CC"/>
                  </a:solidFill>
                  <a:latin typeface="Inter"/>
                  <a:ea typeface="Inter"/>
                  <a:cs typeface="Inter"/>
                  <a:sym typeface="Inter"/>
                </a:rPr>
                <a:t>Note:</a:t>
              </a:r>
              <a:r>
                <a:rPr b="0" lang="en" sz="90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Comfortable hours are defined using a primary zone temperature range of 22–26°C.</a:t>
              </a:r>
              <a:endParaRPr b="0" sz="900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0"/>
          <p:cNvSpPr/>
          <p:nvPr/>
        </p:nvSpPr>
        <p:spPr>
          <a:xfrm>
            <a:off x="381000" y="285750"/>
            <a:ext cx="304800" cy="381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381000" y="40005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Total Annual Energy Consumption Analysis</a:t>
            </a:r>
            <a:endParaRPr b="1" sz="2200">
              <a:solidFill>
                <a:srgbClr val="1A20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51" name="Google Shape;251;p20"/>
          <p:cNvCxnSpPr/>
          <p:nvPr/>
        </p:nvCxnSpPr>
        <p:spPr>
          <a:xfrm>
            <a:off x="381000" y="8382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2" name="Google Shape;252;p20"/>
          <p:cNvGrpSpPr/>
          <p:nvPr/>
        </p:nvGrpSpPr>
        <p:grpSpPr>
          <a:xfrm>
            <a:off x="381000" y="1028700"/>
            <a:ext cx="8382000" cy="1238400"/>
            <a:chOff x="0" y="0"/>
            <a:chExt cx="8382000" cy="1238400"/>
          </a:xfrm>
        </p:grpSpPr>
        <p:sp>
          <p:nvSpPr>
            <p:cNvPr id="253" name="Google Shape;253;p20"/>
            <p:cNvSpPr/>
            <p:nvPr/>
          </p:nvSpPr>
          <p:spPr>
            <a:xfrm>
              <a:off x="0" y="0"/>
              <a:ext cx="2628900" cy="1238400"/>
            </a:xfrm>
            <a:prstGeom prst="roundRect">
              <a:avLst>
                <a:gd fmla="val 153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0" y="0"/>
              <a:ext cx="2628900" cy="381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0"/>
            <p:cNvSpPr txBox="1"/>
            <p:nvPr/>
          </p:nvSpPr>
          <p:spPr>
            <a:xfrm>
              <a:off x="190500" y="152400"/>
              <a:ext cx="22479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Lowest Energy (PID)</a:t>
              </a:r>
              <a:endParaRPr b="0" sz="900">
                <a:solidFill>
                  <a:srgbClr val="71809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5966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5460.9</a:t>
              </a:r>
              <a:r>
                <a:rPr b="0" lang="en" sz="1400">
                  <a:solidFill>
                    <a:srgbClr val="059669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 kWh</a:t>
              </a:r>
              <a:endParaRPr b="1" sz="2800">
                <a:solidFill>
                  <a:srgbClr val="05966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23.2% savings vs baseline</a:t>
              </a:r>
              <a:endParaRPr b="0" sz="1000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56" name="Google Shape;256;p20"/>
            <p:cNvSpPr/>
            <p:nvPr/>
          </p:nvSpPr>
          <p:spPr>
            <a:xfrm>
              <a:off x="2876550" y="0"/>
              <a:ext cx="2628900" cy="1238400"/>
            </a:xfrm>
            <a:prstGeom prst="roundRect">
              <a:avLst>
                <a:gd fmla="val 153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2876550" y="0"/>
              <a:ext cx="2628900" cy="38100"/>
            </a:xfrm>
            <a:prstGeom prst="rect">
              <a:avLst/>
            </a:prstGeom>
            <a:solidFill>
              <a:srgbClr val="7180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0"/>
            <p:cNvSpPr txBox="1"/>
            <p:nvPr/>
          </p:nvSpPr>
          <p:spPr>
            <a:xfrm>
              <a:off x="3067050" y="152400"/>
              <a:ext cx="22479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Baseline Consumption</a:t>
              </a:r>
              <a:endParaRPr b="0" sz="900">
                <a:solidFill>
                  <a:srgbClr val="71809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1A202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7110.8</a:t>
              </a:r>
              <a:r>
                <a:rPr b="0" lang="en" sz="1400">
                  <a:solidFill>
                    <a:srgbClr val="1A202C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 kWh</a:t>
              </a:r>
              <a:endParaRPr b="1" sz="2800">
                <a:solidFill>
                  <a:srgbClr val="1A202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VRF: 5816.3 kWh | IEC: 374.0 kWh</a:t>
              </a:r>
              <a:endParaRPr b="0" sz="9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9" name="Google Shape;259;p20"/>
            <p:cNvSpPr/>
            <p:nvPr/>
          </p:nvSpPr>
          <p:spPr>
            <a:xfrm>
              <a:off x="5753100" y="0"/>
              <a:ext cx="2628900" cy="1238400"/>
            </a:xfrm>
            <a:prstGeom prst="roundRect">
              <a:avLst>
                <a:gd fmla="val 153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5753100" y="0"/>
              <a:ext cx="2628900" cy="381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0"/>
            <p:cNvSpPr txBox="1"/>
            <p:nvPr/>
          </p:nvSpPr>
          <p:spPr>
            <a:xfrm>
              <a:off x="5943600" y="152400"/>
              <a:ext cx="22479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Hybrid Controller</a:t>
              </a:r>
              <a:endParaRPr b="0" sz="900">
                <a:solidFill>
                  <a:srgbClr val="71809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052C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5558.8</a:t>
              </a:r>
              <a:r>
                <a:rPr b="0" lang="en" sz="1400">
                  <a:solidFill>
                    <a:srgbClr val="0052CC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 kWh</a:t>
              </a:r>
              <a:endParaRPr b="1" sz="2800">
                <a:solidFill>
                  <a:srgbClr val="0052C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21.8% savings vs baseline</a:t>
              </a:r>
              <a:endParaRPr b="0" sz="1000">
                <a:solidFill>
                  <a:srgbClr val="0052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62" name="Google Shape;262;p20"/>
          <p:cNvGrpSpPr/>
          <p:nvPr/>
        </p:nvGrpSpPr>
        <p:grpSpPr>
          <a:xfrm>
            <a:off x="381000" y="2419350"/>
            <a:ext cx="8382000" cy="476400"/>
            <a:chOff x="0" y="0"/>
            <a:chExt cx="8382000" cy="476400"/>
          </a:xfrm>
        </p:grpSpPr>
        <p:sp>
          <p:nvSpPr>
            <p:cNvPr id="263" name="Google Shape;263;p20"/>
            <p:cNvSpPr/>
            <p:nvPr/>
          </p:nvSpPr>
          <p:spPr>
            <a:xfrm>
              <a:off x="0" y="0"/>
              <a:ext cx="8382000" cy="4764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0"/>
            <p:cNvSpPr/>
            <p:nvPr/>
          </p:nvSpPr>
          <p:spPr>
            <a:xfrm>
              <a:off x="0" y="0"/>
              <a:ext cx="38100" cy="4764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0"/>
            <p:cNvSpPr txBox="1"/>
            <p:nvPr/>
          </p:nvSpPr>
          <p:spPr>
            <a:xfrm>
              <a:off x="190500" y="11430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65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Primary Finding:</a:t>
              </a:r>
              <a:r>
                <a:rPr b="0" lang="en" sz="935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The PID controller achieves the lowest total annual energy consumption at 5460.9 kWh, outperforming all other advanced control strategies.</a:t>
              </a:r>
              <a:endParaRPr b="0" sz="935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66" name="Google Shape;266;p20"/>
          <p:cNvGrpSpPr/>
          <p:nvPr/>
        </p:nvGrpSpPr>
        <p:grpSpPr>
          <a:xfrm>
            <a:off x="381000" y="3048000"/>
            <a:ext cx="8382000" cy="1714500"/>
            <a:chOff x="0" y="0"/>
            <a:chExt cx="8382000" cy="1714500"/>
          </a:xfrm>
        </p:grpSpPr>
        <p:sp>
          <p:nvSpPr>
            <p:cNvPr id="267" name="Google Shape;267;p20"/>
            <p:cNvSpPr/>
            <p:nvPr/>
          </p:nvSpPr>
          <p:spPr>
            <a:xfrm>
              <a:off x="0" y="0"/>
              <a:ext cx="8382000" cy="1714500"/>
            </a:xfrm>
            <a:prstGeom prst="roundRect">
              <a:avLst>
                <a:gd fmla="val 111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0"/>
            <p:cNvSpPr txBox="1"/>
            <p:nvPr/>
          </p:nvSpPr>
          <p:spPr>
            <a:xfrm>
              <a:off x="228600" y="171450"/>
              <a:ext cx="792480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Full Controller Performance Breakdown</a:t>
              </a:r>
              <a:endParaRPr b="0" sz="935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Baseline Strategy:</a:t>
              </a:r>
              <a:r>
                <a:rPr b="0" lang="en" sz="935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7110.8 kWh total consumption (comprising VRF at 5816.3 kWh and IEC at 374.0 kWh).</a:t>
              </a:r>
              <a:endParaRPr b="0" sz="935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PID Controller:</a:t>
              </a:r>
              <a:r>
                <a:rPr b="0" lang="en" sz="935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5460.9 kWh — achieves maximum efficiency with </a:t>
              </a:r>
              <a:r>
                <a:rPr b="0" lang="en" sz="935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23.2% energy savings</a:t>
              </a:r>
              <a:r>
                <a:rPr b="0" lang="en" sz="935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relative to baseline.</a:t>
              </a:r>
              <a:endParaRPr b="0" sz="935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Hybrid Controller:</a:t>
              </a:r>
              <a:r>
                <a:rPr b="0" lang="en" sz="935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5558.8 kWh — delivers strong performance with </a:t>
              </a:r>
              <a:r>
                <a:rPr b="0" lang="en" sz="935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21.8% energy savings</a:t>
              </a:r>
              <a:r>
                <a:rPr b="0" lang="en" sz="935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relative to baseline.</a:t>
              </a:r>
              <a:endParaRPr b="0" sz="935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Advanced Control (MPC &amp; RL-DQN):</a:t>
              </a:r>
              <a:r>
                <a:rPr b="0" lang="en" sz="935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MPC recorded 5779.5 kWh (18.7% savings), while RL-DQN recorded 5805.0 kWh (18.4% savings).</a:t>
              </a:r>
              <a:endParaRPr b="0" sz="935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Constant Baseline Component (DOAS):</a:t>
              </a:r>
              <a:r>
                <a:rPr b="0" lang="en" sz="935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 Consumes 920.5 kWh identically across all evaluated control strategies.</a:t>
              </a:r>
              <a:endParaRPr b="0" sz="935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273;p21"/>
          <p:cNvGrpSpPr/>
          <p:nvPr/>
        </p:nvGrpSpPr>
        <p:grpSpPr>
          <a:xfrm>
            <a:off x="381000" y="285750"/>
            <a:ext cx="8382000" cy="590550"/>
            <a:chOff x="381000" y="285750"/>
            <a:chExt cx="8382000" cy="590550"/>
          </a:xfrm>
        </p:grpSpPr>
        <p:sp>
          <p:nvSpPr>
            <p:cNvPr id="274" name="Google Shape;274;p21"/>
            <p:cNvSpPr/>
            <p:nvPr/>
          </p:nvSpPr>
          <p:spPr>
            <a:xfrm>
              <a:off x="381000" y="285750"/>
              <a:ext cx="304800" cy="381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1"/>
            <p:cNvSpPr txBox="1"/>
            <p:nvPr/>
          </p:nvSpPr>
          <p:spPr>
            <a:xfrm>
              <a:off x="381000" y="4191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6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Energy savings directly translate to substantial reductions in electricity costs and embodied carbon.</a:t>
              </a:r>
              <a:endParaRPr b="1" sz="126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76" name="Google Shape;276;p21"/>
            <p:cNvCxnSpPr/>
            <p:nvPr/>
          </p:nvCxnSpPr>
          <p:spPr>
            <a:xfrm>
              <a:off x="381000" y="8763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77" name="Google Shape;277;p21"/>
          <p:cNvGrpSpPr/>
          <p:nvPr/>
        </p:nvGrpSpPr>
        <p:grpSpPr>
          <a:xfrm>
            <a:off x="381000" y="1047750"/>
            <a:ext cx="8382075" cy="2619300"/>
            <a:chOff x="381000" y="0"/>
            <a:chExt cx="8382075" cy="2619300"/>
          </a:xfrm>
        </p:grpSpPr>
        <p:grpSp>
          <p:nvGrpSpPr>
            <p:cNvPr id="278" name="Google Shape;278;p21"/>
            <p:cNvGrpSpPr/>
            <p:nvPr/>
          </p:nvGrpSpPr>
          <p:grpSpPr>
            <a:xfrm>
              <a:off x="381000" y="0"/>
              <a:ext cx="2600400" cy="2619300"/>
              <a:chOff x="0" y="0"/>
              <a:chExt cx="2600400" cy="2619300"/>
            </a:xfrm>
          </p:grpSpPr>
          <p:sp>
            <p:nvSpPr>
              <p:cNvPr id="279" name="Google Shape;279;p21"/>
              <p:cNvSpPr/>
              <p:nvPr/>
            </p:nvSpPr>
            <p:spPr>
              <a:xfrm>
                <a:off x="0" y="0"/>
                <a:ext cx="2600400" cy="26193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21"/>
              <p:cNvSpPr/>
              <p:nvPr/>
            </p:nvSpPr>
            <p:spPr>
              <a:xfrm>
                <a:off x="0" y="0"/>
                <a:ext cx="2600400" cy="38100"/>
              </a:xfrm>
              <a:prstGeom prst="rect">
                <a:avLst/>
              </a:prstGeom>
              <a:solidFill>
                <a:srgbClr val="71809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21"/>
              <p:cNvSpPr txBox="1"/>
              <p:nvPr/>
            </p:nvSpPr>
            <p:spPr>
              <a:xfrm>
                <a:off x="190500" y="152400"/>
                <a:ext cx="2219400" cy="22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BASELINE</a:t>
                </a:r>
                <a:endParaRPr b="0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A556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ELECTRICITY COST</a:t>
                </a:r>
                <a:endParaRPr b="0" sz="90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1A202C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INR 50,842</a:t>
                </a:r>
                <a:endParaRPr b="1" sz="2000">
                  <a:solidFill>
                    <a:srgbClr val="1A202C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A556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EMBODIED CARBON</a:t>
                </a:r>
                <a:endParaRPr b="0" sz="90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1A202C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5,830.9 </a:t>
                </a:r>
                <a:r>
                  <a:rPr b="0" lang="en" sz="1300">
                    <a:solidFill>
                      <a:srgbClr val="71809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kgCO2</a:t>
                </a:r>
                <a:endParaRPr b="1" sz="2000">
                  <a:solidFill>
                    <a:srgbClr val="1A202C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A5568"/>
                    </a:solidFill>
                    <a:highlight>
                      <a:srgbClr val="EDF2F7"/>
                    </a:highlight>
                    <a:latin typeface="Inter SemiBold"/>
                    <a:ea typeface="Inter SemiBold"/>
                    <a:cs typeface="Inter SemiBold"/>
                    <a:sym typeface="Inter SemiBold"/>
                  </a:rPr>
                  <a:t>BENCHMARK</a:t>
                </a:r>
                <a:endParaRPr b="0" sz="900">
                  <a:solidFill>
                    <a:srgbClr val="4A5568"/>
                  </a:solidFill>
                  <a:highlight>
                    <a:srgbClr val="EDF2F7"/>
                  </a:highlight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82" name="Google Shape;282;p21"/>
            <p:cNvGrpSpPr/>
            <p:nvPr/>
          </p:nvGrpSpPr>
          <p:grpSpPr>
            <a:xfrm>
              <a:off x="3267075" y="0"/>
              <a:ext cx="2600400" cy="2619300"/>
              <a:chOff x="0" y="0"/>
              <a:chExt cx="2600400" cy="2619300"/>
            </a:xfrm>
          </p:grpSpPr>
          <p:sp>
            <p:nvSpPr>
              <p:cNvPr id="283" name="Google Shape;283;p21"/>
              <p:cNvSpPr/>
              <p:nvPr/>
            </p:nvSpPr>
            <p:spPr>
              <a:xfrm>
                <a:off x="0" y="0"/>
                <a:ext cx="2600400" cy="26193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21"/>
              <p:cNvSpPr/>
              <p:nvPr/>
            </p:nvSpPr>
            <p:spPr>
              <a:xfrm>
                <a:off x="0" y="0"/>
                <a:ext cx="2600400" cy="38100"/>
              </a:xfrm>
              <a:prstGeom prst="rect">
                <a:avLst/>
              </a:prstGeom>
              <a:solidFill>
                <a:srgbClr val="0052C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21"/>
              <p:cNvSpPr txBox="1"/>
              <p:nvPr/>
            </p:nvSpPr>
            <p:spPr>
              <a:xfrm>
                <a:off x="190500" y="152400"/>
                <a:ext cx="2219400" cy="22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052C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PID CONTROL</a:t>
                </a:r>
                <a:endParaRPr b="0" sz="90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A556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ELECTRICITY COST</a:t>
                </a:r>
                <a:endParaRPr b="0" sz="90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0052CC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INR 39,045</a:t>
                </a:r>
                <a:endParaRPr b="1" sz="2000">
                  <a:solidFill>
                    <a:srgbClr val="0052CC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A556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EMBODIED CARBON</a:t>
                </a:r>
                <a:endParaRPr b="0" sz="90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0052CC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4,477.9 </a:t>
                </a:r>
                <a:r>
                  <a:rPr b="0" lang="en" sz="1300">
                    <a:solidFill>
                      <a:srgbClr val="71809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kgCO2</a:t>
                </a:r>
                <a:endParaRPr b="1" sz="2000">
                  <a:solidFill>
                    <a:srgbClr val="0052CC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052CC"/>
                    </a:solidFill>
                    <a:highlight>
                      <a:srgbClr val="EBF8FF"/>
                    </a:highlight>
                    <a:latin typeface="Inter SemiBold"/>
                    <a:ea typeface="Inter SemiBold"/>
                    <a:cs typeface="Inter SemiBold"/>
                    <a:sym typeface="Inter SemiBold"/>
                  </a:rPr>
                  <a:t>23.2% REDUCTION</a:t>
                </a:r>
                <a:endParaRPr b="0" sz="900">
                  <a:solidFill>
                    <a:srgbClr val="0052CC"/>
                  </a:solidFill>
                  <a:highlight>
                    <a:srgbClr val="EBF8FF"/>
                  </a:highlight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86" name="Google Shape;286;p21"/>
            <p:cNvGrpSpPr/>
            <p:nvPr/>
          </p:nvGrpSpPr>
          <p:grpSpPr>
            <a:xfrm>
              <a:off x="6162675" y="0"/>
              <a:ext cx="2600400" cy="2619300"/>
              <a:chOff x="0" y="0"/>
              <a:chExt cx="2600400" cy="2619300"/>
            </a:xfrm>
          </p:grpSpPr>
          <p:sp>
            <p:nvSpPr>
              <p:cNvPr id="287" name="Google Shape;287;p21"/>
              <p:cNvSpPr/>
              <p:nvPr/>
            </p:nvSpPr>
            <p:spPr>
              <a:xfrm>
                <a:off x="0" y="0"/>
                <a:ext cx="2600400" cy="26193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21"/>
              <p:cNvSpPr/>
              <p:nvPr/>
            </p:nvSpPr>
            <p:spPr>
              <a:xfrm>
                <a:off x="0" y="0"/>
                <a:ext cx="2600400" cy="38100"/>
              </a:xfrm>
              <a:prstGeom prst="rect">
                <a:avLst/>
              </a:prstGeom>
              <a:solidFill>
                <a:srgbClr val="0596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21"/>
              <p:cNvSpPr txBox="1"/>
              <p:nvPr/>
            </p:nvSpPr>
            <p:spPr>
              <a:xfrm>
                <a:off x="190500" y="152400"/>
                <a:ext cx="2219400" cy="22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5966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HYBRID CONTROL</a:t>
                </a:r>
                <a:endParaRPr b="0" sz="9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A556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ELECTRICITY COST</a:t>
                </a:r>
                <a:endParaRPr b="0" sz="90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059669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INR 39,745</a:t>
                </a:r>
                <a:endParaRPr b="1" sz="2000">
                  <a:solidFill>
                    <a:srgbClr val="059669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A556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EMBODIED CARBON</a:t>
                </a:r>
                <a:endParaRPr b="0" sz="90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059669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4,558.2 </a:t>
                </a:r>
                <a:r>
                  <a:rPr b="0" lang="en" sz="1300">
                    <a:solidFill>
                      <a:srgbClr val="71809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kgCO2</a:t>
                </a:r>
                <a:endParaRPr b="1" sz="2000">
                  <a:solidFill>
                    <a:srgbClr val="059669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5966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21.8% REDUCTION</a:t>
                </a:r>
                <a:endParaRPr b="0" sz="9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290" name="Google Shape;290;p21"/>
          <p:cNvGrpSpPr/>
          <p:nvPr/>
        </p:nvGrpSpPr>
        <p:grpSpPr>
          <a:xfrm>
            <a:off x="381000" y="3857625"/>
            <a:ext cx="8382000" cy="857400"/>
            <a:chOff x="0" y="0"/>
            <a:chExt cx="8382000" cy="857400"/>
          </a:xfrm>
        </p:grpSpPr>
        <p:sp>
          <p:nvSpPr>
            <p:cNvPr id="291" name="Google Shape;291;p21"/>
            <p:cNvSpPr/>
            <p:nvPr/>
          </p:nvSpPr>
          <p:spPr>
            <a:xfrm>
              <a:off x="0" y="0"/>
              <a:ext cx="8382000" cy="857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1"/>
            <p:cNvSpPr/>
            <p:nvPr/>
          </p:nvSpPr>
          <p:spPr>
            <a:xfrm>
              <a:off x="0" y="0"/>
              <a:ext cx="38100" cy="8574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1"/>
            <p:cNvSpPr txBox="1"/>
            <p:nvPr/>
          </p:nvSpPr>
          <p:spPr>
            <a:xfrm>
              <a:off x="228600" y="171450"/>
              <a:ext cx="79248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EVALUATION PARAMETERS</a:t>
              </a:r>
              <a:endParaRPr b="0" sz="900">
                <a:solidFill>
                  <a:srgbClr val="0052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Economic impacts were evaluated under a three-tier Maharashtra Time-of-Day (ToD) tariff. Carbon emissions were calculated using the 0.82 kgCO2/kWh Maharashtra grid factor.</a:t>
              </a:r>
              <a:endParaRPr b="0" sz="11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"/>
          <p:cNvSpPr/>
          <p:nvPr/>
        </p:nvSpPr>
        <p:spPr>
          <a:xfrm>
            <a:off x="381000" y="285750"/>
            <a:ext cx="304800" cy="381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9" name="Google Shape;299;p22"/>
          <p:cNvGrpSpPr/>
          <p:nvPr/>
        </p:nvGrpSpPr>
        <p:grpSpPr>
          <a:xfrm>
            <a:off x="381000" y="428625"/>
            <a:ext cx="8382000" cy="428625"/>
            <a:chOff x="381000" y="428625"/>
            <a:chExt cx="8382000" cy="428625"/>
          </a:xfrm>
        </p:grpSpPr>
        <p:sp>
          <p:nvSpPr>
            <p:cNvPr id="300" name="Google Shape;300;p22"/>
            <p:cNvSpPr txBox="1"/>
            <p:nvPr/>
          </p:nvSpPr>
          <p:spPr>
            <a:xfrm>
              <a:off x="381000" y="428625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Controllers Showed Limited Load-Shifting Despite Tariff Structures</a:t>
              </a:r>
              <a:endParaRPr b="1" sz="200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301" name="Google Shape;301;p22"/>
            <p:cNvCxnSpPr/>
            <p:nvPr/>
          </p:nvCxnSpPr>
          <p:spPr>
            <a:xfrm>
              <a:off x="381000" y="85725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02" name="Google Shape;302;p22"/>
          <p:cNvGrpSpPr/>
          <p:nvPr/>
        </p:nvGrpSpPr>
        <p:grpSpPr>
          <a:xfrm>
            <a:off x="381000" y="1047750"/>
            <a:ext cx="8382000" cy="857400"/>
            <a:chOff x="0" y="0"/>
            <a:chExt cx="8382000" cy="857400"/>
          </a:xfrm>
        </p:grpSpPr>
        <p:sp>
          <p:nvSpPr>
            <p:cNvPr id="303" name="Google Shape;303;p22"/>
            <p:cNvSpPr/>
            <p:nvPr/>
          </p:nvSpPr>
          <p:spPr>
            <a:xfrm>
              <a:off x="0" y="0"/>
              <a:ext cx="8382000" cy="857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2"/>
            <p:cNvSpPr/>
            <p:nvPr/>
          </p:nvSpPr>
          <p:spPr>
            <a:xfrm>
              <a:off x="0" y="0"/>
              <a:ext cx="57300" cy="857400"/>
            </a:xfrm>
            <a:prstGeom prst="rect">
              <a:avLst/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2"/>
            <p:cNvSpPr txBox="1"/>
            <p:nvPr/>
          </p:nvSpPr>
          <p:spPr>
            <a:xfrm>
              <a:off x="228600" y="142875"/>
              <a:ext cx="7924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DC262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FINDING — THERMAL EFFICIENCY DEGRADATION</a:t>
              </a:r>
              <a:endParaRPr b="0" sz="900">
                <a:solidFill>
                  <a:srgbClr val="DC262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VRF COP drops 43% from 5.3 (at 28°C) to roughly 3.0 (at 44°C). Avoiding hot-hour operation maximized overall system efficiency.</a:t>
              </a:r>
              <a:endParaRPr b="0" sz="1300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306" name="Google Shape;306;p22"/>
          <p:cNvSpPr txBox="1"/>
          <p:nvPr/>
        </p:nvSpPr>
        <p:spPr>
          <a:xfrm>
            <a:off x="381000" y="2143125"/>
            <a:ext cx="83820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lang="en" sz="1200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Flat Power Profiles:</a:t>
            </a:r>
            <a:r>
              <a:rPr b="0" lang="en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Hybrid and PID controllers maintained flat hourly power profiles (~490–495 W).</a:t>
            </a:r>
            <a:endParaRPr b="0" sz="12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0" lang="en" sz="1200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Higher Average Draw:</a:t>
            </a:r>
            <a:r>
              <a:rPr b="0" lang="en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MPC and RL-DQN averaged slightly higher power demand (~528–536 W).</a:t>
            </a:r>
            <a:endParaRPr b="0" sz="12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0" lang="en" sz="1200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MPC Optimization Disconnect:</a:t>
            </a:r>
            <a:r>
              <a:rPr b="0" lang="en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MPC's tariff-weighting term did not connect to its final control output.</a:t>
            </a:r>
            <a:endParaRPr b="0" sz="12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1200"/>
              </a:spcAft>
              <a:buSzPts val="1400"/>
              <a:buChar char="●"/>
            </a:pPr>
            <a:r>
              <a:rPr b="0" lang="en" sz="1200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Hybrid Override Masking:</a:t>
            </a:r>
            <a:r>
              <a:rPr b="0" lang="en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Hybrid's tariff multiplier was masked by temperature-error overrides during peak operation.</a:t>
            </a:r>
            <a:endParaRPr b="0" sz="12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3"/>
          <p:cNvSpPr/>
          <p:nvPr/>
        </p:nvSpPr>
        <p:spPr>
          <a:xfrm>
            <a:off x="381000" y="285750"/>
            <a:ext cx="304800" cy="381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381000" y="428625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Recirculation-Only Filtration Limitations</a:t>
            </a:r>
            <a:endParaRPr b="1" sz="2200">
              <a:solidFill>
                <a:srgbClr val="1A20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13" name="Google Shape;313;p23"/>
          <p:cNvCxnSpPr/>
          <p:nvPr/>
        </p:nvCxnSpPr>
        <p:spPr>
          <a:xfrm>
            <a:off x="381000" y="85725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4" name="Google Shape;314;p23"/>
          <p:cNvGrpSpPr/>
          <p:nvPr/>
        </p:nvGrpSpPr>
        <p:grpSpPr>
          <a:xfrm>
            <a:off x="381000" y="1095375"/>
            <a:ext cx="8382000" cy="857400"/>
            <a:chOff x="0" y="0"/>
            <a:chExt cx="8382000" cy="857400"/>
          </a:xfrm>
        </p:grpSpPr>
        <p:sp>
          <p:nvSpPr>
            <p:cNvPr id="315" name="Google Shape;315;p23"/>
            <p:cNvSpPr/>
            <p:nvPr/>
          </p:nvSpPr>
          <p:spPr>
            <a:xfrm>
              <a:off x="0" y="0"/>
              <a:ext cx="8382000" cy="857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3"/>
            <p:cNvSpPr/>
            <p:nvPr/>
          </p:nvSpPr>
          <p:spPr>
            <a:xfrm>
              <a:off x="0" y="0"/>
              <a:ext cx="57300" cy="857400"/>
            </a:xfrm>
            <a:prstGeom prst="rect">
              <a:avLst/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3"/>
            <p:cNvSpPr txBox="1"/>
            <p:nvPr/>
          </p:nvSpPr>
          <p:spPr>
            <a:xfrm>
              <a:off x="285750" y="142875"/>
              <a:ext cx="781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Recirculation-only HEPA filtration fails to control indoor PM2.5 from infiltration.</a:t>
              </a:r>
              <a:endParaRPr b="0" sz="1350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318" name="Google Shape;318;p23"/>
          <p:cNvSpPr txBox="1"/>
          <p:nvPr/>
        </p:nvSpPr>
        <p:spPr>
          <a:xfrm>
            <a:off x="381000" y="2143125"/>
            <a:ext cx="83820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lang="en" sz="1200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CO2 Control:</a:t>
            </a:r>
            <a:r>
              <a:rPr b="0" lang="en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Controlled effectively (420-600 ppm) during the monsoon by humidity-triggered DOAS ventilation.</a:t>
            </a:r>
            <a:endParaRPr b="0" sz="12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350"/>
              </a:spcBef>
              <a:spcAft>
                <a:spcPts val="0"/>
              </a:spcAft>
              <a:buSzPts val="1400"/>
              <a:buChar char="●"/>
            </a:pPr>
            <a:r>
              <a:rPr b="0" lang="en" sz="1200">
                <a:solidFill>
                  <a:srgbClr val="DC262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PM2.5 Crisis:</a:t>
            </a:r>
            <a:r>
              <a:rPr b="0" lang="en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Persistently high year-round (160-195 µg/m³), far exceeding the 60 µg/m³ Indian NAAQS and 15 µg/m³ WHO limits.</a:t>
            </a:r>
            <a:endParaRPr b="0" sz="12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350"/>
              </a:spcBef>
              <a:spcAft>
                <a:spcPts val="1350"/>
              </a:spcAft>
              <a:buSzPts val="1400"/>
              <a:buChar char="●"/>
            </a:pPr>
            <a:r>
              <a:rPr b="0" lang="en" sz="1200">
                <a:solidFill>
                  <a:srgbClr val="0052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Filtration Limits:</a:t>
            </a:r>
            <a:r>
              <a:rPr b="0" lang="en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A 99.95% efficient HEPA H13 filter treated 30% of recirculated air, but unfiltered outdoor PM2.5 continuously entered via infiltration.</a:t>
            </a:r>
            <a:endParaRPr b="0" sz="12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4"/>
          <p:cNvSpPr/>
          <p:nvPr/>
        </p:nvSpPr>
        <p:spPr>
          <a:xfrm>
            <a:off x="381000" y="285750"/>
            <a:ext cx="304800" cy="381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381000" y="400050"/>
            <a:ext cx="8382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Tracking Accuracy vs. Energy Efficiency Trade-offs</a:t>
            </a:r>
            <a:endParaRPr b="1" sz="2200">
              <a:solidFill>
                <a:srgbClr val="1A20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26" name="Google Shape;326;p24"/>
          <p:cNvCxnSpPr/>
          <p:nvPr/>
        </p:nvCxnSpPr>
        <p:spPr>
          <a:xfrm>
            <a:off x="381000" y="809625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7" name="Google Shape;327;p24"/>
          <p:cNvGrpSpPr/>
          <p:nvPr/>
        </p:nvGrpSpPr>
        <p:grpSpPr>
          <a:xfrm>
            <a:off x="381000" y="952500"/>
            <a:ext cx="8382000" cy="533400"/>
            <a:chOff x="381000" y="952500"/>
            <a:chExt cx="8382000" cy="533400"/>
          </a:xfrm>
        </p:grpSpPr>
        <p:sp>
          <p:nvSpPr>
            <p:cNvPr id="328" name="Google Shape;328;p24"/>
            <p:cNvSpPr/>
            <p:nvPr/>
          </p:nvSpPr>
          <p:spPr>
            <a:xfrm>
              <a:off x="381000" y="952500"/>
              <a:ext cx="8382000" cy="533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4"/>
            <p:cNvSpPr/>
            <p:nvPr/>
          </p:nvSpPr>
          <p:spPr>
            <a:xfrm>
              <a:off x="381000" y="952500"/>
              <a:ext cx="47700" cy="5334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4"/>
            <p:cNvSpPr txBox="1"/>
            <p:nvPr/>
          </p:nvSpPr>
          <p:spPr>
            <a:xfrm>
              <a:off x="571500" y="102870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Synthesis</a:t>
              </a:r>
              <a:endParaRPr b="0" sz="850">
                <a:solidFill>
                  <a:srgbClr val="0052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935">
                  <a:solidFill>
                    <a:srgbClr val="0052CC"/>
                  </a:solidFill>
                  <a:latin typeface="Inter"/>
                  <a:ea typeface="Inter"/>
                  <a:cs typeface="Inter"/>
                  <a:sym typeface="Inter"/>
                </a:rPr>
                <a:t>Hybrid controller</a:t>
              </a:r>
              <a:r>
                <a:rPr b="0" lang="en" sz="935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 offers the optimal balance—matching MPC's peak tracking accuracy while approaching PID's energy efficiency.</a:t>
              </a:r>
              <a:endParaRPr b="0" sz="935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1" name="Google Shape;331;p24"/>
          <p:cNvGrpSpPr/>
          <p:nvPr/>
        </p:nvGrpSpPr>
        <p:grpSpPr>
          <a:xfrm>
            <a:off x="381000" y="1666875"/>
            <a:ext cx="8382075" cy="3048000"/>
            <a:chOff x="381000" y="1666875"/>
            <a:chExt cx="8382075" cy="3048000"/>
          </a:xfrm>
        </p:grpSpPr>
        <p:grpSp>
          <p:nvGrpSpPr>
            <p:cNvPr id="332" name="Google Shape;332;p24"/>
            <p:cNvGrpSpPr/>
            <p:nvPr/>
          </p:nvGrpSpPr>
          <p:grpSpPr>
            <a:xfrm>
              <a:off x="381000" y="1666875"/>
              <a:ext cx="1952700" cy="3048000"/>
              <a:chOff x="381000" y="1666875"/>
              <a:chExt cx="1952700" cy="3048000"/>
            </a:xfrm>
          </p:grpSpPr>
          <p:sp>
            <p:nvSpPr>
              <p:cNvPr id="333" name="Google Shape;333;p24"/>
              <p:cNvSpPr/>
              <p:nvPr/>
            </p:nvSpPr>
            <p:spPr>
              <a:xfrm>
                <a:off x="381000" y="1666875"/>
                <a:ext cx="1952700" cy="3048000"/>
              </a:xfrm>
              <a:prstGeom prst="rect">
                <a:avLst/>
              </a:prstGeom>
              <a:solidFill>
                <a:srgbClr val="FFFFFF"/>
              </a:solidFill>
              <a:ln cap="flat" cmpd="sng" w="14300">
                <a:solidFill>
                  <a:srgbClr val="0052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24"/>
              <p:cNvSpPr/>
              <p:nvPr/>
            </p:nvSpPr>
            <p:spPr>
              <a:xfrm>
                <a:off x="381000" y="1666875"/>
                <a:ext cx="1952700" cy="57300"/>
              </a:xfrm>
              <a:prstGeom prst="rect">
                <a:avLst/>
              </a:prstGeom>
              <a:solidFill>
                <a:srgbClr val="0052C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24"/>
              <p:cNvSpPr txBox="1"/>
              <p:nvPr/>
            </p:nvSpPr>
            <p:spPr>
              <a:xfrm>
                <a:off x="523875" y="1838325"/>
                <a:ext cx="1666800" cy="271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52CC"/>
                    </a:solidFill>
                    <a:latin typeface="Inter"/>
                    <a:ea typeface="Inter"/>
                    <a:cs typeface="Inter"/>
                    <a:sym typeface="Inter"/>
                  </a:rPr>
                  <a:t>HYBRID</a:t>
                </a:r>
                <a:endParaRPr b="1" sz="1000">
                  <a:solidFill>
                    <a:srgbClr val="0052C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05966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OPTIMAL BALANCE</a:t>
                </a:r>
                <a:endParaRPr b="0" sz="8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TRACKING ERROR</a:t>
                </a:r>
                <a:endParaRPr b="0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0052CC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1.73°C </a:t>
                </a:r>
                <a:r>
                  <a:rPr b="0" lang="en" sz="900">
                    <a:solidFill>
                      <a:srgbClr val="71809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RMSE</a:t>
                </a:r>
                <a:endParaRPr b="0" sz="1600">
                  <a:solidFill>
                    <a:srgbClr val="0052CC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  <a:p>
                <a:pPr indent="0" lvl="0" marL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ENERGY USE</a:t>
                </a:r>
                <a:endParaRPr b="0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059669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5558.8 </a:t>
                </a:r>
                <a:r>
                  <a:rPr b="0" lang="en" sz="900">
                    <a:solidFill>
                      <a:srgbClr val="71809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kWh</a:t>
                </a:r>
                <a:endParaRPr b="0" sz="1600">
                  <a:solidFill>
                    <a:srgbClr val="059669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Matches MPC tracking precision while successfully approaching PID energy efficiency levels.</a:t>
                </a:r>
                <a:endParaRPr b="0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36" name="Google Shape;336;p24"/>
            <p:cNvGrpSpPr/>
            <p:nvPr/>
          </p:nvGrpSpPr>
          <p:grpSpPr>
            <a:xfrm>
              <a:off x="2524125" y="1666875"/>
              <a:ext cx="1952700" cy="3048000"/>
              <a:chOff x="2524125" y="1666875"/>
              <a:chExt cx="1952700" cy="3048000"/>
            </a:xfrm>
          </p:grpSpPr>
          <p:sp>
            <p:nvSpPr>
              <p:cNvPr id="337" name="Google Shape;337;p24"/>
              <p:cNvSpPr/>
              <p:nvPr/>
            </p:nvSpPr>
            <p:spPr>
              <a:xfrm>
                <a:off x="2524125" y="1666875"/>
                <a:ext cx="1952700" cy="3048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24"/>
              <p:cNvSpPr/>
              <p:nvPr/>
            </p:nvSpPr>
            <p:spPr>
              <a:xfrm>
                <a:off x="2524125" y="1666875"/>
                <a:ext cx="1952700" cy="38100"/>
              </a:xfrm>
              <a:prstGeom prst="rect">
                <a:avLst/>
              </a:prstGeom>
              <a:solidFill>
                <a:srgbClr val="0052C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24"/>
              <p:cNvSpPr txBox="1"/>
              <p:nvPr/>
            </p:nvSpPr>
            <p:spPr>
              <a:xfrm>
                <a:off x="2667000" y="1838325"/>
                <a:ext cx="1666800" cy="271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A202C"/>
                    </a:solidFill>
                    <a:latin typeface="Inter"/>
                    <a:ea typeface="Inter"/>
                    <a:cs typeface="Inter"/>
                    <a:sym typeface="Inter"/>
                  </a:rPr>
                  <a:t>MPC</a:t>
                </a:r>
                <a:endParaRPr b="1" sz="100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0052C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BEST TRACKING</a:t>
                </a:r>
                <a:endParaRPr b="0" sz="80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TRACKING ERROR</a:t>
                </a:r>
                <a:endParaRPr b="0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0052CC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1.73°C </a:t>
                </a:r>
                <a:r>
                  <a:rPr b="0" lang="en" sz="900">
                    <a:solidFill>
                      <a:srgbClr val="71809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RMSE</a:t>
                </a:r>
                <a:endParaRPr b="0" sz="1600">
                  <a:solidFill>
                    <a:srgbClr val="0052CC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  <a:p>
                <a:pPr indent="0" lvl="0" marL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ENERGY USE</a:t>
                </a:r>
                <a:endParaRPr b="0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DC2626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HIGHER</a:t>
                </a:r>
                <a:endParaRPr b="0" sz="1600">
                  <a:solidFill>
                    <a:srgbClr val="DC262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Delivers peak tracking accuracy, but incurs higher overall energy consumption from anticipatory cooling.</a:t>
                </a:r>
                <a:endParaRPr b="0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40" name="Google Shape;340;p24"/>
            <p:cNvGrpSpPr/>
            <p:nvPr/>
          </p:nvGrpSpPr>
          <p:grpSpPr>
            <a:xfrm>
              <a:off x="4667250" y="1666875"/>
              <a:ext cx="1952700" cy="3048000"/>
              <a:chOff x="4667250" y="1666875"/>
              <a:chExt cx="1952700" cy="3048000"/>
            </a:xfrm>
          </p:grpSpPr>
          <p:sp>
            <p:nvSpPr>
              <p:cNvPr id="341" name="Google Shape;341;p24"/>
              <p:cNvSpPr/>
              <p:nvPr/>
            </p:nvSpPr>
            <p:spPr>
              <a:xfrm>
                <a:off x="4667250" y="1666875"/>
                <a:ext cx="1952700" cy="3048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24"/>
              <p:cNvSpPr/>
              <p:nvPr/>
            </p:nvSpPr>
            <p:spPr>
              <a:xfrm>
                <a:off x="4667250" y="1666875"/>
                <a:ext cx="1952700" cy="38100"/>
              </a:xfrm>
              <a:prstGeom prst="rect">
                <a:avLst/>
              </a:prstGeom>
              <a:solidFill>
                <a:srgbClr val="0596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24"/>
              <p:cNvSpPr txBox="1"/>
              <p:nvPr/>
            </p:nvSpPr>
            <p:spPr>
              <a:xfrm>
                <a:off x="4810125" y="1838325"/>
                <a:ext cx="1666800" cy="271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A202C"/>
                    </a:solidFill>
                    <a:latin typeface="Inter"/>
                    <a:ea typeface="Inter"/>
                    <a:cs typeface="Inter"/>
                    <a:sym typeface="Inter"/>
                  </a:rPr>
                  <a:t>PID</a:t>
                </a:r>
                <a:endParaRPr b="1" sz="100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05966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LOWEST ENERGY</a:t>
                </a:r>
                <a:endParaRPr b="0" sz="8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TRACKING ERROR</a:t>
                </a:r>
                <a:endParaRPr b="0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718096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ELEVATED</a:t>
                </a:r>
                <a:endParaRPr b="0" sz="1600">
                  <a:solidFill>
                    <a:srgbClr val="71809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  <a:p>
                <a:pPr indent="0" lvl="0" marL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ENERGY USE</a:t>
                </a:r>
                <a:endParaRPr b="0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059669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5460.9 </a:t>
                </a:r>
                <a:r>
                  <a:rPr b="0" lang="en" sz="900">
                    <a:solidFill>
                      <a:srgbClr val="71809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kWh</a:t>
                </a:r>
                <a:endParaRPr b="0" sz="1600">
                  <a:solidFill>
                    <a:srgbClr val="059669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Achieves the absolute lowest total energy consumption, but results in slightly higher temperature tracking error.</a:t>
                </a:r>
                <a:endParaRPr b="0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44" name="Google Shape;344;p24"/>
            <p:cNvGrpSpPr/>
            <p:nvPr/>
          </p:nvGrpSpPr>
          <p:grpSpPr>
            <a:xfrm>
              <a:off x="6810375" y="1666875"/>
              <a:ext cx="1952700" cy="3048000"/>
              <a:chOff x="6810375" y="1666875"/>
              <a:chExt cx="1952700" cy="3048000"/>
            </a:xfrm>
          </p:grpSpPr>
          <p:sp>
            <p:nvSpPr>
              <p:cNvPr id="345" name="Google Shape;345;p24"/>
              <p:cNvSpPr/>
              <p:nvPr/>
            </p:nvSpPr>
            <p:spPr>
              <a:xfrm>
                <a:off x="6810375" y="1666875"/>
                <a:ext cx="1952700" cy="3048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24"/>
              <p:cNvSpPr/>
              <p:nvPr/>
            </p:nvSpPr>
            <p:spPr>
              <a:xfrm>
                <a:off x="6810375" y="1666875"/>
                <a:ext cx="1952700" cy="38100"/>
              </a:xfrm>
              <a:prstGeom prst="rect">
                <a:avLst/>
              </a:prstGeom>
              <a:solidFill>
                <a:srgbClr val="DC26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24"/>
              <p:cNvSpPr txBox="1"/>
              <p:nvPr/>
            </p:nvSpPr>
            <p:spPr>
              <a:xfrm>
                <a:off x="6953250" y="1838325"/>
                <a:ext cx="1666800" cy="271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A202C"/>
                    </a:solidFill>
                    <a:latin typeface="Inter"/>
                    <a:ea typeface="Inter"/>
                    <a:cs typeface="Inter"/>
                    <a:sym typeface="Inter"/>
                  </a:rPr>
                  <a:t>RL-DQN</a:t>
                </a:r>
                <a:endParaRPr b="1" sz="100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DC262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SUBOPTIMAL</a:t>
                </a:r>
                <a:endParaRPr b="0" sz="800">
                  <a:solidFill>
                    <a:srgbClr val="DC262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OVERALL PERFORMANCE</a:t>
                </a:r>
                <a:endParaRPr b="0" sz="900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DC2626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LAGGING</a:t>
                </a:r>
                <a:endParaRPr b="0" sz="1600">
                  <a:solidFill>
                    <a:srgbClr val="DC262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Underperformed across metrics due to greedy inference from frozen weights and a coarse discrete action space.</a:t>
                </a:r>
                <a:endParaRPr b="0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oogle Shape;352;p25"/>
          <p:cNvGrpSpPr/>
          <p:nvPr/>
        </p:nvGrpSpPr>
        <p:grpSpPr>
          <a:xfrm>
            <a:off x="381000" y="285750"/>
            <a:ext cx="8382000" cy="523875"/>
            <a:chOff x="381000" y="285750"/>
            <a:chExt cx="8382000" cy="523875"/>
          </a:xfrm>
        </p:grpSpPr>
        <p:sp>
          <p:nvSpPr>
            <p:cNvPr id="353" name="Google Shape;353;p25"/>
            <p:cNvSpPr/>
            <p:nvPr/>
          </p:nvSpPr>
          <p:spPr>
            <a:xfrm>
              <a:off x="381000" y="285750"/>
              <a:ext cx="304800" cy="381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5"/>
            <p:cNvSpPr txBox="1"/>
            <p:nvPr/>
          </p:nvSpPr>
          <p:spPr>
            <a:xfrm>
              <a:off x="381000" y="400050"/>
              <a:ext cx="8382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Study Parameters &amp; Limitations</a:t>
              </a:r>
              <a:endParaRPr b="1" sz="220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355" name="Google Shape;355;p25"/>
            <p:cNvCxnSpPr/>
            <p:nvPr/>
          </p:nvCxnSpPr>
          <p:spPr>
            <a:xfrm>
              <a:off x="381000" y="809625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56" name="Google Shape;356;p25"/>
          <p:cNvGrpSpPr/>
          <p:nvPr/>
        </p:nvGrpSpPr>
        <p:grpSpPr>
          <a:xfrm>
            <a:off x="381000" y="1000125"/>
            <a:ext cx="8382000" cy="838200"/>
            <a:chOff x="381000" y="1000125"/>
            <a:chExt cx="8382000" cy="838200"/>
          </a:xfrm>
        </p:grpSpPr>
        <p:sp>
          <p:nvSpPr>
            <p:cNvPr id="357" name="Google Shape;357;p25"/>
            <p:cNvSpPr/>
            <p:nvPr/>
          </p:nvSpPr>
          <p:spPr>
            <a:xfrm>
              <a:off x="381000" y="1000125"/>
              <a:ext cx="8382000" cy="838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5"/>
            <p:cNvSpPr/>
            <p:nvPr/>
          </p:nvSpPr>
          <p:spPr>
            <a:xfrm>
              <a:off x="381000" y="1000125"/>
              <a:ext cx="38100" cy="8382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5"/>
            <p:cNvSpPr/>
            <p:nvPr/>
          </p:nvSpPr>
          <p:spPr>
            <a:xfrm>
              <a:off x="552450" y="1266825"/>
              <a:ext cx="304800" cy="304800"/>
            </a:xfrm>
            <a:prstGeom prst="ellipse">
              <a:avLst/>
            </a:prstGeom>
            <a:solidFill>
              <a:srgbClr val="F0F4FF"/>
            </a:solidFill>
            <a:ln cap="flat" cmpd="sng" w="14300">
              <a:solidFill>
                <a:srgbClr val="0052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5"/>
            <p:cNvSpPr txBox="1"/>
            <p:nvPr/>
          </p:nvSpPr>
          <p:spPr>
            <a:xfrm>
              <a:off x="552450" y="1285875"/>
              <a:ext cx="304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52C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b="1" sz="1100">
                <a:solidFill>
                  <a:srgbClr val="0052C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61" name="Google Shape;361;p25"/>
            <p:cNvSpPr txBox="1"/>
            <p:nvPr/>
          </p:nvSpPr>
          <p:spPr>
            <a:xfrm>
              <a:off x="1009650" y="1133475"/>
              <a:ext cx="752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Building &amp; Climate Profile:</a:t>
              </a:r>
              <a:r>
                <a:rPr b="0" lang="en" sz="11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Based on a single 95 m² building and Pune TMY weather profile.</a:t>
              </a:r>
              <a:endParaRPr b="0" sz="11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2" name="Google Shape;362;p25"/>
          <p:cNvGrpSpPr/>
          <p:nvPr/>
        </p:nvGrpSpPr>
        <p:grpSpPr>
          <a:xfrm>
            <a:off x="381000" y="1971675"/>
            <a:ext cx="8382000" cy="838200"/>
            <a:chOff x="381000" y="1971675"/>
            <a:chExt cx="8382000" cy="838200"/>
          </a:xfrm>
        </p:grpSpPr>
        <p:sp>
          <p:nvSpPr>
            <p:cNvPr id="363" name="Google Shape;363;p25"/>
            <p:cNvSpPr/>
            <p:nvPr/>
          </p:nvSpPr>
          <p:spPr>
            <a:xfrm>
              <a:off x="381000" y="1971675"/>
              <a:ext cx="8382000" cy="838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5"/>
            <p:cNvSpPr/>
            <p:nvPr/>
          </p:nvSpPr>
          <p:spPr>
            <a:xfrm>
              <a:off x="381000" y="1971675"/>
              <a:ext cx="38100" cy="8382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5"/>
            <p:cNvSpPr/>
            <p:nvPr/>
          </p:nvSpPr>
          <p:spPr>
            <a:xfrm>
              <a:off x="552450" y="2238375"/>
              <a:ext cx="304800" cy="304800"/>
            </a:xfrm>
            <a:prstGeom prst="ellipse">
              <a:avLst/>
            </a:prstGeom>
            <a:solidFill>
              <a:srgbClr val="F0F4FF"/>
            </a:solidFill>
            <a:ln cap="flat" cmpd="sng" w="14300">
              <a:solidFill>
                <a:srgbClr val="0052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5"/>
            <p:cNvSpPr txBox="1"/>
            <p:nvPr/>
          </p:nvSpPr>
          <p:spPr>
            <a:xfrm>
              <a:off x="552450" y="2257425"/>
              <a:ext cx="304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52C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b="1" sz="1100">
                <a:solidFill>
                  <a:srgbClr val="0052C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67" name="Google Shape;367;p25"/>
            <p:cNvSpPr txBox="1"/>
            <p:nvPr/>
          </p:nvSpPr>
          <p:spPr>
            <a:xfrm>
              <a:off x="1009650" y="2105025"/>
              <a:ext cx="752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Occupancy Schedule:</a:t>
              </a:r>
              <a:r>
                <a:rPr b="0" lang="en" sz="11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Fixed four-occupant schedule; no stochastic behavior or occupant overrides.</a:t>
              </a:r>
              <a:endParaRPr b="0" sz="11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8" name="Google Shape;368;p25"/>
          <p:cNvGrpSpPr/>
          <p:nvPr/>
        </p:nvGrpSpPr>
        <p:grpSpPr>
          <a:xfrm>
            <a:off x="381000" y="2943225"/>
            <a:ext cx="8382000" cy="838200"/>
            <a:chOff x="381000" y="2943225"/>
            <a:chExt cx="8382000" cy="838200"/>
          </a:xfrm>
        </p:grpSpPr>
        <p:sp>
          <p:nvSpPr>
            <p:cNvPr id="369" name="Google Shape;369;p25"/>
            <p:cNvSpPr/>
            <p:nvPr/>
          </p:nvSpPr>
          <p:spPr>
            <a:xfrm>
              <a:off x="381000" y="2943225"/>
              <a:ext cx="8382000" cy="838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5"/>
            <p:cNvSpPr/>
            <p:nvPr/>
          </p:nvSpPr>
          <p:spPr>
            <a:xfrm>
              <a:off x="381000" y="2943225"/>
              <a:ext cx="38100" cy="8382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5"/>
            <p:cNvSpPr/>
            <p:nvPr/>
          </p:nvSpPr>
          <p:spPr>
            <a:xfrm>
              <a:off x="552450" y="3209925"/>
              <a:ext cx="304800" cy="304800"/>
            </a:xfrm>
            <a:prstGeom prst="ellipse">
              <a:avLst/>
            </a:prstGeom>
            <a:solidFill>
              <a:srgbClr val="F0F4FF"/>
            </a:solidFill>
            <a:ln cap="flat" cmpd="sng" w="14300">
              <a:solidFill>
                <a:srgbClr val="0052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5"/>
            <p:cNvSpPr txBox="1"/>
            <p:nvPr/>
          </p:nvSpPr>
          <p:spPr>
            <a:xfrm>
              <a:off x="552450" y="3228975"/>
              <a:ext cx="304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52C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b="1" sz="1100">
                <a:solidFill>
                  <a:srgbClr val="0052C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73" name="Google Shape;373;p25"/>
            <p:cNvSpPr txBox="1"/>
            <p:nvPr/>
          </p:nvSpPr>
          <p:spPr>
            <a:xfrm>
              <a:off x="1009650" y="3076575"/>
              <a:ext cx="752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Model Complexity:</a:t>
              </a:r>
              <a:r>
                <a:rPr b="0" lang="en" sz="11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MPC and Hybrid use simplified first-order predictive models, not the full multi-zone RC network.</a:t>
              </a:r>
              <a:endParaRPr b="0" sz="11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4" name="Google Shape;374;p25"/>
          <p:cNvGrpSpPr/>
          <p:nvPr/>
        </p:nvGrpSpPr>
        <p:grpSpPr>
          <a:xfrm>
            <a:off x="381000" y="3914775"/>
            <a:ext cx="8382000" cy="838200"/>
            <a:chOff x="381000" y="3914775"/>
            <a:chExt cx="8382000" cy="838200"/>
          </a:xfrm>
        </p:grpSpPr>
        <p:sp>
          <p:nvSpPr>
            <p:cNvPr id="375" name="Google Shape;375;p25"/>
            <p:cNvSpPr/>
            <p:nvPr/>
          </p:nvSpPr>
          <p:spPr>
            <a:xfrm>
              <a:off x="381000" y="3914775"/>
              <a:ext cx="8382000" cy="838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5"/>
            <p:cNvSpPr/>
            <p:nvPr/>
          </p:nvSpPr>
          <p:spPr>
            <a:xfrm>
              <a:off x="381000" y="3914775"/>
              <a:ext cx="38100" cy="838200"/>
            </a:xfrm>
            <a:prstGeom prst="rect">
              <a:avLst/>
            </a:prstGeom>
            <a:solidFill>
              <a:srgbClr val="0052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5"/>
            <p:cNvSpPr/>
            <p:nvPr/>
          </p:nvSpPr>
          <p:spPr>
            <a:xfrm>
              <a:off x="552450" y="4181475"/>
              <a:ext cx="304800" cy="304800"/>
            </a:xfrm>
            <a:prstGeom prst="ellipse">
              <a:avLst/>
            </a:prstGeom>
            <a:solidFill>
              <a:srgbClr val="F0F4FF"/>
            </a:solidFill>
            <a:ln cap="flat" cmpd="sng" w="14300">
              <a:solidFill>
                <a:srgbClr val="0052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5"/>
            <p:cNvSpPr txBox="1"/>
            <p:nvPr/>
          </p:nvSpPr>
          <p:spPr>
            <a:xfrm>
              <a:off x="552450" y="4200525"/>
              <a:ext cx="304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52C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b="1" sz="1100">
                <a:solidFill>
                  <a:srgbClr val="0052C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79" name="Google Shape;379;p25"/>
            <p:cNvSpPr txBox="1"/>
            <p:nvPr/>
          </p:nvSpPr>
          <p:spPr>
            <a:xfrm>
              <a:off x="1009650" y="4048125"/>
              <a:ext cx="752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Night-Setback Asymmetry:</a:t>
              </a:r>
              <a:r>
                <a:rPr b="0" lang="en" sz="11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Baseline and RL-DQN used a flat 24°C target, while PID, MPC, and Hybrid applied a 2°C night setback.</a:t>
              </a:r>
              <a:endParaRPr b="0" sz="11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381000" y="285750"/>
            <a:ext cx="304800" cy="381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6"/>
          <p:cNvSpPr txBox="1"/>
          <p:nvPr/>
        </p:nvSpPr>
        <p:spPr>
          <a:xfrm>
            <a:off x="381000" y="400050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Advanced Control &amp; Comprehensive Air Filtration</a:t>
            </a:r>
            <a:endParaRPr b="1" sz="2200">
              <a:solidFill>
                <a:srgbClr val="1A20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86" name="Google Shape;386;p26"/>
          <p:cNvCxnSpPr/>
          <p:nvPr/>
        </p:nvCxnSpPr>
        <p:spPr>
          <a:xfrm>
            <a:off x="381000" y="8763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87" name="Google Shape;387;p26"/>
          <p:cNvGrpSpPr/>
          <p:nvPr/>
        </p:nvGrpSpPr>
        <p:grpSpPr>
          <a:xfrm>
            <a:off x="381000" y="1047750"/>
            <a:ext cx="8382000" cy="3714900"/>
            <a:chOff x="0" y="0"/>
            <a:chExt cx="8382000" cy="3714900"/>
          </a:xfrm>
        </p:grpSpPr>
        <p:grpSp>
          <p:nvGrpSpPr>
            <p:cNvPr id="388" name="Google Shape;388;p26"/>
            <p:cNvGrpSpPr/>
            <p:nvPr/>
          </p:nvGrpSpPr>
          <p:grpSpPr>
            <a:xfrm>
              <a:off x="0" y="0"/>
              <a:ext cx="4076700" cy="3714900"/>
              <a:chOff x="0" y="0"/>
              <a:chExt cx="4076700" cy="3714900"/>
            </a:xfrm>
          </p:grpSpPr>
          <p:sp>
            <p:nvSpPr>
              <p:cNvPr id="389" name="Google Shape;389;p26"/>
              <p:cNvSpPr/>
              <p:nvPr/>
            </p:nvSpPr>
            <p:spPr>
              <a:xfrm>
                <a:off x="0" y="0"/>
                <a:ext cx="4076700" cy="3714900"/>
              </a:xfrm>
              <a:prstGeom prst="roundRect">
                <a:avLst>
                  <a:gd fmla="val 512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26"/>
              <p:cNvSpPr/>
              <p:nvPr/>
            </p:nvSpPr>
            <p:spPr>
              <a:xfrm>
                <a:off x="0" y="0"/>
                <a:ext cx="4076700" cy="38100"/>
              </a:xfrm>
              <a:prstGeom prst="rect">
                <a:avLst/>
              </a:prstGeom>
              <a:solidFill>
                <a:srgbClr val="0596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26"/>
              <p:cNvSpPr txBox="1"/>
              <p:nvPr/>
            </p:nvSpPr>
            <p:spPr>
              <a:xfrm>
                <a:off x="228600" y="190500"/>
                <a:ext cx="3619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05966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Advanced Control Strategies</a:t>
                </a:r>
                <a:endParaRPr b="0" sz="13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92" name="Google Shape;392;p26"/>
              <p:cNvSpPr/>
              <p:nvPr/>
            </p:nvSpPr>
            <p:spPr>
              <a:xfrm>
                <a:off x="228600" y="495300"/>
                <a:ext cx="3619500" cy="723900"/>
              </a:xfrm>
              <a:prstGeom prst="rect">
                <a:avLst/>
              </a:prstGeom>
              <a:solidFill>
                <a:srgbClr val="F8F9FA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26"/>
              <p:cNvSpPr txBox="1"/>
              <p:nvPr/>
            </p:nvSpPr>
            <p:spPr>
              <a:xfrm>
                <a:off x="381000" y="590550"/>
                <a:ext cx="33147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65">
                    <a:solidFill>
                      <a:srgbClr val="7180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ENERGY REDUCTION POTENTIAL</a:t>
                </a:r>
                <a:endParaRPr b="0" sz="765">
                  <a:solidFill>
                    <a:srgbClr val="7180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2380">
                    <a:solidFill>
                      <a:srgbClr val="059669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18–23%</a:t>
                </a:r>
                <a:endParaRPr b="1" sz="2380">
                  <a:solidFill>
                    <a:srgbClr val="059669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394" name="Google Shape;394;p26"/>
              <p:cNvSpPr txBox="1"/>
              <p:nvPr/>
            </p:nvSpPr>
            <p:spPr>
              <a:xfrm>
                <a:off x="228600" y="1371600"/>
                <a:ext cx="3619500" cy="215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171450" spcFirstLastPara="1" rIns="0" wrap="square" tIns="0">
                <a:noAutofit/>
              </a:bodyPr>
              <a:lstStyle/>
              <a:p>
                <a:pPr indent="-317500" lvl="0" marL="457200" rtl="0" algn="l">
                  <a:spcBef>
                    <a:spcPts val="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b="0" lang="en" sz="1100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Rule Replacement:</a:t>
                </a:r>
                <a:r>
                  <a:rPr b="0" lang="en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 Transitioning from reactive rules to PID, MPC, or Hybrid control significantly cuts energy usage.</a:t>
                </a:r>
                <a:endParaRPr b="0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75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b="0" lang="en" sz="1100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Comfort Improvement:</a:t>
                </a:r>
                <a:r>
                  <a:rPr b="0" lang="en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 Advanced control loops dramatically enhance thermal comfort consistency in residential HVAC.</a:t>
                </a:r>
                <a:endParaRPr b="0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750"/>
                  </a:spcBef>
                  <a:spcAft>
                    <a:spcPts val="750"/>
                  </a:spcAft>
                  <a:buSzPts val="1400"/>
                  <a:buChar char="●"/>
                </a:pPr>
                <a:r>
                  <a:rPr b="0" lang="en" sz="1100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Hybrid Adaptive Fusion:</a:t>
                </a:r>
                <a:r>
                  <a:rPr b="0" lang="en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 Serves as an exceptionally effective, balanced middle ground for modern residential deployments.</a:t>
                </a:r>
                <a:endParaRPr b="0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95" name="Google Shape;395;p26"/>
            <p:cNvGrpSpPr/>
            <p:nvPr/>
          </p:nvGrpSpPr>
          <p:grpSpPr>
            <a:xfrm>
              <a:off x="4305300" y="0"/>
              <a:ext cx="4076700" cy="3714900"/>
              <a:chOff x="0" y="0"/>
              <a:chExt cx="4076700" cy="3714900"/>
            </a:xfrm>
          </p:grpSpPr>
          <p:sp>
            <p:nvSpPr>
              <p:cNvPr id="396" name="Google Shape;396;p26"/>
              <p:cNvSpPr/>
              <p:nvPr/>
            </p:nvSpPr>
            <p:spPr>
              <a:xfrm>
                <a:off x="0" y="0"/>
                <a:ext cx="4076700" cy="3714900"/>
              </a:xfrm>
              <a:prstGeom prst="roundRect">
                <a:avLst>
                  <a:gd fmla="val 512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26"/>
              <p:cNvSpPr/>
              <p:nvPr/>
            </p:nvSpPr>
            <p:spPr>
              <a:xfrm>
                <a:off x="0" y="0"/>
                <a:ext cx="4076700" cy="38100"/>
              </a:xfrm>
              <a:prstGeom prst="rect">
                <a:avLst/>
              </a:prstGeom>
              <a:solidFill>
                <a:srgbClr val="0052C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26"/>
              <p:cNvSpPr txBox="1"/>
              <p:nvPr/>
            </p:nvSpPr>
            <p:spPr>
              <a:xfrm>
                <a:off x="228600" y="190500"/>
                <a:ext cx="3619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0052C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Filtration Architecture &amp; IAQ</a:t>
                </a:r>
                <a:endParaRPr b="0" sz="1300">
                  <a:solidFill>
                    <a:srgbClr val="0052C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99" name="Google Shape;399;p26"/>
              <p:cNvSpPr/>
              <p:nvPr/>
            </p:nvSpPr>
            <p:spPr>
              <a:xfrm>
                <a:off x="228600" y="495300"/>
                <a:ext cx="3619500" cy="723900"/>
              </a:xfrm>
              <a:prstGeom prst="rect">
                <a:avLst/>
              </a:prstGeom>
              <a:solidFill>
                <a:srgbClr val="F8F9FA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26"/>
              <p:cNvSpPr/>
              <p:nvPr/>
            </p:nvSpPr>
            <p:spPr>
              <a:xfrm>
                <a:off x="228600" y="495300"/>
                <a:ext cx="38100" cy="723900"/>
              </a:xfrm>
              <a:prstGeom prst="rect">
                <a:avLst/>
              </a:prstGeom>
              <a:solidFill>
                <a:srgbClr val="0052C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26"/>
              <p:cNvSpPr txBox="1"/>
              <p:nvPr/>
            </p:nvSpPr>
            <p:spPr>
              <a:xfrm>
                <a:off x="381000" y="571500"/>
                <a:ext cx="3333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Thermal control alone cannot ensure healthy indoor air in modern Indian homes.</a:t>
                </a:r>
                <a:endParaRPr b="0" sz="105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402" name="Google Shape;402;p26"/>
              <p:cNvSpPr txBox="1"/>
              <p:nvPr/>
            </p:nvSpPr>
            <p:spPr>
              <a:xfrm>
                <a:off x="228600" y="1371600"/>
                <a:ext cx="3619500" cy="215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171450" spcFirstLastPara="1" rIns="0" wrap="square" tIns="0">
                <a:noAutofit/>
              </a:bodyPr>
              <a:lstStyle/>
              <a:p>
                <a:pPr indent="-317500" lvl="0" marL="457200" rtl="0" algn="l">
                  <a:spcBef>
                    <a:spcPts val="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b="0" lang="en" sz="1100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Comprehensive Filtration:</a:t>
                </a:r>
                <a:r>
                  <a:rPr b="0" lang="en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 Architecture must explicitly treat incoming infiltration and ventilation air.</a:t>
                </a:r>
                <a:endParaRPr b="0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75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b="0" lang="en" sz="1100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Beyond Recirculation:</a:t>
                </a:r>
                <a:r>
                  <a:rPr b="0" lang="en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 Relying solely on internal recirculated air treatment is insufficient for severe ambient conditions.</a:t>
                </a:r>
                <a:endParaRPr b="0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750"/>
                  </a:spcBef>
                  <a:spcAft>
                    <a:spcPts val="750"/>
                  </a:spcAft>
                  <a:buSzPts val="1400"/>
                  <a:buChar char="●"/>
                </a:pPr>
                <a:r>
                  <a:rPr b="0" lang="en" sz="1100">
                    <a:solidFill>
                      <a:srgbClr val="1A202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PM2.5 Standards:</a:t>
                </a:r>
                <a:r>
                  <a:rPr b="0" lang="en" sz="110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 Holistic ambient and intake filtration is mandatory to consistently achieve target PM2.5 air quality levels.</a:t>
                </a:r>
                <a:endParaRPr b="0" sz="11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